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58" r:id="rId5"/>
    <p:sldId id="260" r:id="rId6"/>
    <p:sldId id="261" r:id="rId7"/>
    <p:sldId id="262" r:id="rId8"/>
    <p:sldId id="264" r:id="rId9"/>
    <p:sldId id="268" r:id="rId10"/>
    <p:sldId id="272" r:id="rId11"/>
    <p:sldId id="273" r:id="rId12"/>
    <p:sldId id="269" r:id="rId13"/>
    <p:sldId id="270" r:id="rId14"/>
    <p:sldId id="271" r:id="rId15"/>
    <p:sldId id="274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911103-DCC5-4331-9143-6D52DE18001F}">
          <p14:sldIdLst>
            <p14:sldId id="256"/>
            <p14:sldId id="257"/>
            <p14:sldId id="266"/>
            <p14:sldId id="258"/>
          </p14:sldIdLst>
        </p14:section>
        <p14:section name="individual_test" id="{3A47AE06-8464-4019-8DFF-3BD2221BC4C4}">
          <p14:sldIdLst>
            <p14:sldId id="260"/>
            <p14:sldId id="261"/>
            <p14:sldId id="262"/>
            <p14:sldId id="264"/>
            <p14:sldId id="268"/>
          </p14:sldIdLst>
        </p14:section>
        <p14:section name="dhurv_content" id="{D9281A7F-780E-435B-A766-3C9B77C1296A}">
          <p14:sldIdLst>
            <p14:sldId id="272"/>
            <p14:sldId id="273"/>
          </p14:sldIdLst>
        </p14:section>
        <p14:section name="kautubh section" id="{3A3ED19E-F08A-4A74-92A3-1060401EE88C}">
          <p14:sldIdLst>
            <p14:sldId id="269"/>
            <p14:sldId id="270"/>
            <p14:sldId id="271"/>
          </p14:sldIdLst>
        </p14:section>
        <p14:section name="Benchmarking" id="{89811861-FC94-4ABA-8714-EBAB9C1C69F4}">
          <p14:sldIdLst>
            <p14:sldId id="274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0281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397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1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9728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8017"/>
          </a:bodyPr>
          <a:lstStyle/>
          <a:p>
            <a:pPr algn="ctr">
              <a:defRPr sz="4350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/>
              <a:t>FPGA Multi-Programmer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1-0003-4000-8000-000000000000}"/>
              </a:ext>
            </a:extLst>
          </p:cNvPr>
          <p:cNvSpPr>
            <a:spLocks noGrp="1"/>
          </p:cNvSpPr>
          <p:nvPr/>
        </p:nvSpPr>
        <p:spPr>
          <a:xfrm>
            <a:off x="5219700" y="2133600"/>
            <a:ext cx="1752600" cy="47625"/>
          </a:xfrm>
          <a:prstGeom prst="rect">
            <a:avLst/>
          </a:prstGeom>
          <a:solidFill>
            <a:srgbClr val="18AFC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rcRect t="29297" b="29297"/>
          <a:stretch>
            <a:fillRect/>
          </a:stretch>
        </p:blipFill>
        <p:spPr>
          <a:xfrm>
            <a:off x="628650" y="2238375"/>
            <a:ext cx="10972800" cy="30289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1-0004-4000-8000-000000000000}"/>
              </a:ext>
            </a:extLst>
          </p:cNvPr>
          <p:cNvSpPr>
            <a:spLocks noGrp="1"/>
          </p:cNvSpPr>
          <p:nvPr/>
        </p:nvSpPr>
        <p:spPr>
          <a:xfrm>
            <a:off x="573021" y="5486400"/>
            <a:ext cx="10972800" cy="1121869"/>
          </a:xfrm>
          <a:prstGeom prst="rect">
            <a:avLst/>
          </a:prstGeom>
          <a:solidFill>
            <a:srgbClr val="FFFDF8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1-0005-4000-8000-000000000000}"/>
              </a:ext>
            </a:extLst>
          </p:cNvPr>
          <p:cNvSpPr>
            <a:spLocks noGrp="1"/>
          </p:cNvSpPr>
          <p:nvPr/>
        </p:nvSpPr>
        <p:spPr>
          <a:xfrm>
            <a:off x="895350" y="5638799"/>
            <a:ext cx="10401300" cy="47416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ctr">
              <a:defRPr sz="1725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sz="3200" dirty="0"/>
              <a:t>A Novel Architecture for Dynamic FPGA Programming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1-0006-4000-8000-000000000000}"/>
              </a:ext>
            </a:extLst>
          </p:cNvPr>
          <p:cNvSpPr>
            <a:spLocks noGrp="1"/>
          </p:cNvSpPr>
          <p:nvPr/>
        </p:nvSpPr>
        <p:spPr>
          <a:xfrm>
            <a:off x="819150" y="6210300"/>
            <a:ext cx="105537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00" b="0">
                <a:solidFill>
                  <a:srgbClr val="686C70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686C70"/>
                </a:solidFill>
                <a:latin typeface="Aptos"/>
                <a:ea typeface="Aptos"/>
                <a:cs typeface="Aptos"/>
              </a:rPr>
              <a:t>Vivaan Tasker  ·  Rajas Wagle  ·  Dhruv Warik  ·  Soham Shah  ·  Kaustubh </a:t>
            </a:r>
            <a:r>
              <a:rPr sz="1200" b="0" dirty="0" err="1">
                <a:solidFill>
                  <a:srgbClr val="686C70"/>
                </a:solidFill>
                <a:latin typeface="Aptos"/>
                <a:ea typeface="Aptos"/>
                <a:cs typeface="Aptos"/>
              </a:rPr>
              <a:t>Vekhande</a:t>
            </a:r>
            <a:endParaRPr sz="1200" b="0" dirty="0">
              <a:solidFill>
                <a:srgbClr val="686C7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1-0007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0000" lnSpcReduction="20000"/>
          </a:bodyPr>
          <a:lstStyle/>
          <a:p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1-0008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0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2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02 / THE NEED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2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7239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defRPr sz="3600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rPr>
              <a:t>Big ideas.</a:t>
            </a:r>
          </a:p>
          <a:p>
            <a:pPr algn="l">
              <a:defRPr sz="3600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rPr>
              <a:t>Cheap, limiting hardware.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2-0004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962150"/>
            <a:ext cx="10972800" cy="19050"/>
          </a:xfrm>
          <a:prstGeom prst="rect">
            <a:avLst/>
          </a:prstGeom>
          <a:solidFill>
            <a:srgbClr val="C9C5B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rcRect l="3515" r="3515"/>
          <a:stretch>
            <a:fillRect/>
          </a:stretch>
        </p:blipFill>
        <p:spPr>
          <a:xfrm>
            <a:off x="609600" y="2266950"/>
            <a:ext cx="4953000" cy="201168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rcRect t="11962" b="11962"/>
          <a:stretch>
            <a:fillRect/>
          </a:stretch>
        </p:blipFill>
        <p:spPr>
          <a:xfrm>
            <a:off x="6629400" y="2266950"/>
            <a:ext cx="4953000" cy="201168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0000002-000B-4000-8000-000000000000}"/>
              </a:ext>
            </a:extLst>
          </p:cNvPr>
          <p:cNvSpPr>
            <a:spLocks noGrp="1"/>
          </p:cNvSpPr>
          <p:nvPr/>
        </p:nvSpPr>
        <p:spPr>
          <a:xfrm>
            <a:off x="5924550" y="2266950"/>
            <a:ext cx="19050" cy="3638550"/>
          </a:xfrm>
          <a:prstGeom prst="rect">
            <a:avLst/>
          </a:prstGeom>
          <a:solidFill>
            <a:srgbClr val="C9C5BB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0000002-000C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144768"/>
            <a:ext cx="10972800" cy="21945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500" lnSpcReduction="10000"/>
          </a:bodyPr>
          <a:lstStyle/>
          <a:p>
            <a:pPr algn="ctr">
              <a:defRPr sz="1650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/>
              <a:t>Resource limits shape how much of the DUT can run at once.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000002-000D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750" b="0">
                <a:solidFill>
                  <a:srgbClr val="686C7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6C70"/>
                </a:solidFill>
                <a:latin typeface="Aptos"/>
                <a:ea typeface="Aptos"/>
                <a:cs typeface="Aptos"/>
              </a:rPr>
              <a:t>Sources: Sipeed Tang Nano 9K Wiki · FPGA Board Repository (EDGE Artix-7)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2-000E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370832"/>
            <a:ext cx="49560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252A2E"/>
                </a:solidFill>
                <a:latin typeface="Aptos Display"/>
              </a:rPr>
              <a:t>TANG NANO 9K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4370832"/>
            <a:ext cx="495604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>
                <a:solidFill>
                  <a:srgbClr val="252A2E"/>
                </a:solidFill>
                <a:latin typeface="Aptos Display"/>
              </a:rPr>
              <a:t>EDGE ARTIX-7 · XC7A35T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91048"/>
              </p:ext>
            </p:extLst>
          </p:nvPr>
        </p:nvGraphicFramePr>
        <p:xfrm>
          <a:off x="612648" y="4681728"/>
          <a:ext cx="4956048" cy="1392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 Display"/>
                        </a:rPr>
                        <a:t>RESOURCE</a:t>
                      </a:r>
                    </a:p>
                  </a:txBody>
                  <a:tcPr marL="73152" marR="73152" marT="18288" marB="18288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 Display"/>
                        </a:rPr>
                        <a:t>VALUE</a:t>
                      </a:r>
                    </a:p>
                  </a:txBody>
                  <a:tcPr marL="73152" marR="73152" marT="18288" marB="18288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52A2E"/>
                          </a:solidFill>
                          <a:latin typeface="Aptos Display"/>
                        </a:rPr>
                        <a:t>LUTs</a:t>
                      </a:r>
                    </a:p>
                  </a:txBody>
                  <a:tcPr marL="73152" marR="7315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A2E"/>
                          </a:solidFill>
                          <a:latin typeface="Aptos"/>
                        </a:rPr>
                        <a:t>8,640 LUT4</a:t>
                      </a:r>
                    </a:p>
                  </a:txBody>
                  <a:tcPr marL="73152" marR="73152" marT="18288" marB="18288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52A2E"/>
                          </a:solidFill>
                          <a:latin typeface="Aptos Display"/>
                        </a:rPr>
                        <a:t>Flip-flops</a:t>
                      </a:r>
                    </a:p>
                  </a:txBody>
                  <a:tcPr marL="73152" marR="73152" marT="18288" marB="18288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A2E"/>
                          </a:solidFill>
                          <a:latin typeface="Aptos"/>
                        </a:rPr>
                        <a:t>6,480</a:t>
                      </a:r>
                    </a:p>
                  </a:txBody>
                  <a:tcPr marL="73152" marR="73152" marT="18288" marB="18288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52A2E"/>
                          </a:solidFill>
                          <a:latin typeface="Aptos Display"/>
                        </a:rPr>
                        <a:t>Block RAM</a:t>
                      </a:r>
                    </a:p>
                  </a:txBody>
                  <a:tcPr marL="73152" marR="7315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A2E"/>
                          </a:solidFill>
                          <a:latin typeface="Aptos"/>
                        </a:rPr>
                        <a:t>468 Kbit</a:t>
                      </a:r>
                    </a:p>
                  </a:txBody>
                  <a:tcPr marL="73152" marR="73152" marT="18288" marB="18288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52A2E"/>
                          </a:solidFill>
                          <a:latin typeface="Aptos Display"/>
                        </a:rPr>
                        <a:t>DSP</a:t>
                      </a:r>
                    </a:p>
                  </a:txBody>
                  <a:tcPr marL="73152" marR="73152" marT="18288" marB="18288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A2E"/>
                          </a:solidFill>
                          <a:latin typeface="Aptos"/>
                        </a:rPr>
                        <a:t>20 × 18×18</a:t>
                      </a:r>
                    </a:p>
                  </a:txBody>
                  <a:tcPr marL="73152" marR="73152" marT="18288" marB="18288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52A2E"/>
                          </a:solidFill>
                          <a:latin typeface="Aptos Display"/>
                        </a:rPr>
                        <a:t>SPI flash</a:t>
                      </a:r>
                    </a:p>
                  </a:txBody>
                  <a:tcPr marL="73152" marR="7315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A2E"/>
                          </a:solidFill>
                          <a:latin typeface="Aptos"/>
                        </a:rPr>
                        <a:t>32 Mbit</a:t>
                      </a:r>
                    </a:p>
                  </a:txBody>
                  <a:tcPr marL="73152" marR="73152" marT="18288" marB="18288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6327581"/>
              </p:ext>
            </p:extLst>
          </p:nvPr>
        </p:nvGraphicFramePr>
        <p:xfrm>
          <a:off x="6629400" y="4681728"/>
          <a:ext cx="4956048" cy="1392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ptos Display"/>
                        </a:rPr>
                        <a:t>RESOURCE</a:t>
                      </a:r>
                    </a:p>
                  </a:txBody>
                  <a:tcPr marL="73152" marR="73152" marT="18288" marB="18288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 Display"/>
                        </a:rPr>
                        <a:t>VALUE</a:t>
                      </a:r>
                    </a:p>
                  </a:txBody>
                  <a:tcPr marL="73152" marR="73152" marT="18288" marB="18288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52A2E"/>
                          </a:solidFill>
                          <a:latin typeface="Aptos Display"/>
                        </a:rPr>
                        <a:t>LUTs</a:t>
                      </a:r>
                    </a:p>
                  </a:txBody>
                  <a:tcPr marL="73152" marR="7315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A2E"/>
                          </a:solidFill>
                          <a:latin typeface="Aptos"/>
                        </a:rPr>
                        <a:t>20,800</a:t>
                      </a:r>
                    </a:p>
                  </a:txBody>
                  <a:tcPr marL="73152" marR="73152" marT="18288" marB="18288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52A2E"/>
                          </a:solidFill>
                          <a:latin typeface="Aptos Display"/>
                        </a:rPr>
                        <a:t>Flip-flops</a:t>
                      </a:r>
                    </a:p>
                  </a:txBody>
                  <a:tcPr marL="73152" marR="73152" marT="18288" marB="18288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A2E"/>
                          </a:solidFill>
                          <a:latin typeface="Aptos"/>
                        </a:rPr>
                        <a:t>41,600</a:t>
                      </a:r>
                    </a:p>
                  </a:txBody>
                  <a:tcPr marL="73152" marR="73152" marT="18288" marB="18288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52A2E"/>
                          </a:solidFill>
                          <a:latin typeface="Aptos Display"/>
                        </a:rPr>
                        <a:t>Block RAM</a:t>
                      </a:r>
                    </a:p>
                  </a:txBody>
                  <a:tcPr marL="73152" marR="7315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A2E"/>
                          </a:solidFill>
                          <a:latin typeface="Aptos"/>
                        </a:rPr>
                        <a:t>50 × 36 Kb</a:t>
                      </a:r>
                    </a:p>
                  </a:txBody>
                  <a:tcPr marL="73152" marR="73152" marT="18288" marB="18288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52A2E"/>
                          </a:solidFill>
                          <a:latin typeface="Aptos Display"/>
                        </a:rPr>
                        <a:t>DSP slices</a:t>
                      </a:r>
                    </a:p>
                  </a:txBody>
                  <a:tcPr marL="73152" marR="73152" marT="18288" marB="18288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A2E"/>
                          </a:solidFill>
                          <a:latin typeface="Aptos"/>
                        </a:rPr>
                        <a:t>90</a:t>
                      </a:r>
                    </a:p>
                  </a:txBody>
                  <a:tcPr marL="73152" marR="73152" marT="18288" marB="18288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6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52A2E"/>
                          </a:solidFill>
                          <a:latin typeface="Aptos Display"/>
                        </a:rPr>
                        <a:t>SDRAM / flash</a:t>
                      </a:r>
                    </a:p>
                  </a:txBody>
                  <a:tcPr marL="73152" marR="73152" marT="18288" marB="18288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52A2E"/>
                          </a:solidFill>
                          <a:latin typeface="Aptos"/>
                        </a:rPr>
                        <a:t>32 MB / 8 MB</a:t>
                      </a:r>
                    </a:p>
                  </a:txBody>
                  <a:tcPr marL="73152" marR="73152" marT="18288" marB="18288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2648" y="384048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006B73"/>
                </a:solidFill>
                <a:latin typeface="Aptos Display"/>
              </a:rPr>
              <a:t>03 /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1323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52A2E"/>
                </a:solidFill>
                <a:latin typeface="Aptos Display"/>
              </a:rPr>
              <a:t>Dynamic reconfiguration makes one FPGA serve multiple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298448"/>
            <a:ext cx="10972800" cy="182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25312" y="1536192"/>
            <a:ext cx="18287" cy="4654296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527048"/>
            <a:ext cx="49834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006B73"/>
                </a:solidFill>
                <a:latin typeface="Aptos Display"/>
              </a:rPr>
              <a:t>NATIVE MULTIBOOT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8288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IN" sz="1800" b="1">
                <a:solidFill>
                  <a:srgbClr val="252A2E"/>
                </a:solidFill>
                <a:latin typeface="Aptos Display"/>
              </a:rPr>
              <a:t>Nexys A7-100T </a:t>
            </a:r>
            <a:r>
              <a:rPr sz="1800" b="1">
                <a:solidFill>
                  <a:srgbClr val="252A2E"/>
                </a:solidFill>
                <a:latin typeface="Aptos Display"/>
              </a:rPr>
              <a:t>· </a:t>
            </a:r>
            <a:r>
              <a:rPr lang="en-IN" sz="1800" b="1">
                <a:solidFill>
                  <a:srgbClr val="252A2E"/>
                </a:solidFill>
                <a:latin typeface="Aptos Display"/>
              </a:rPr>
              <a:t>Artix-7</a:t>
            </a:r>
            <a:endParaRPr sz="1800" b="1">
              <a:solidFill>
                <a:srgbClr val="252A2E"/>
              </a:solidFill>
              <a:latin typeface="Aptos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78224" y="1755648"/>
            <a:ext cx="1325880" cy="4770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06B73"/>
                </a:solidFill>
                <a:latin typeface="Aptos Display"/>
              </a:rPr>
              <a:t>$</a:t>
            </a:r>
            <a:r>
              <a:rPr lang="en-IN" sz="3100" b="1">
                <a:solidFill>
                  <a:srgbClr val="006B73"/>
                </a:solidFill>
                <a:latin typeface="Aptos Display"/>
              </a:rPr>
              <a:t>349</a:t>
            </a:r>
            <a:endParaRPr sz="3100" b="1">
              <a:solidFill>
                <a:srgbClr val="006B73"/>
              </a:solidFill>
              <a:latin typeface="Aptos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01568" y="2176272"/>
            <a:ext cx="1993392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IN" sz="800" b="1">
                <a:solidFill>
                  <a:srgbClr val="686C70"/>
                </a:solidFill>
                <a:latin typeface="Aptos Display"/>
              </a:rPr>
              <a:t>DEV BOARD LIST</a:t>
            </a:r>
            <a:r>
              <a:rPr sz="800" b="1">
                <a:solidFill>
                  <a:srgbClr val="686C70"/>
                </a:solidFill>
                <a:latin typeface="Aptos Display"/>
              </a:rPr>
              <a:t> PRICE · 1 NOV 2026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382000"/>
              </p:ext>
            </p:extLst>
          </p:nvPr>
        </p:nvGraphicFramePr>
        <p:xfrm>
          <a:off x="612648" y="2487168"/>
          <a:ext cx="4974336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7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6B73"/>
                          </a:solidFill>
                          <a:latin typeface="Aptos"/>
                        </a:rPr>
                        <a:t>FPGA FABRIC</a:t>
                      </a:r>
                    </a:p>
                  </a:txBody>
                  <a:tcPr marL="100584" marR="100584"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252A2E"/>
                          </a:solidFill>
                          <a:latin typeface="Aptos"/>
                        </a:rPr>
                        <a:t>15,850 slices · 240 DSP · 4,860 Kbit BRAM</a:t>
                      </a:r>
                    </a:p>
                  </a:txBody>
                  <a:tcPr marL="100584" marR="100584"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6B73"/>
                          </a:solidFill>
                          <a:latin typeface="Aptos"/>
                        </a:rPr>
                        <a:t>MEMORY</a:t>
                      </a:r>
                    </a:p>
                  </a:txBody>
                  <a:tcPr marL="100584" marR="100584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>
                          <a:solidFill>
                            <a:srgbClr val="252A2E"/>
                          </a:solidFill>
                          <a:latin typeface="Aptos"/>
                        </a:rPr>
                        <a:t>128 MiB DDR2 · onboard configuration flash</a:t>
                      </a:r>
                    </a:p>
                  </a:txBody>
                  <a:tcPr marL="100584" marR="100584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6B73"/>
                          </a:solidFill>
                          <a:latin typeface="Aptos"/>
                        </a:rPr>
                        <a:t>I/O</a:t>
                      </a:r>
                    </a:p>
                  </a:txBody>
                  <a:tcPr marL="100584" marR="100584"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252A2E"/>
                          </a:solidFill>
                          <a:latin typeface="Aptos"/>
                        </a:rPr>
                        <a:t>Ethernet · USB/UART · VGA · 5 Pmod ports</a:t>
                      </a:r>
                    </a:p>
                  </a:txBody>
                  <a:tcPr marL="100584" marR="100584"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6B73"/>
                          </a:solidFill>
                          <a:latin typeface="Aptos"/>
                        </a:rPr>
                        <a:t>PROGRAMMING</a:t>
                      </a:r>
                    </a:p>
                  </a:txBody>
                  <a:tcPr marL="100584" marR="100584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252A2E"/>
                          </a:solidFill>
                          <a:latin typeface="Aptos"/>
                        </a:rPr>
                        <a:t>USB-JTAG · flash configuration</a:t>
                      </a:r>
                    </a:p>
                  </a:txBody>
                  <a:tcPr marL="100584" marR="100584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006B73"/>
                          </a:solidFill>
                          <a:latin typeface="Aptos"/>
                        </a:rPr>
                        <a:t>BOOT BEHAVIOR</a:t>
                      </a:r>
                    </a:p>
                  </a:txBody>
                  <a:tcPr marL="100584" marR="100584"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52A2E"/>
                          </a:solidFill>
                          <a:latin typeface="Aptos"/>
                        </a:rPr>
                        <a:t>2+ images · application-triggered switch · fallback</a:t>
                      </a:r>
                    </a:p>
                  </a:txBody>
                  <a:tcPr marL="100584" marR="100584"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" y="5285232"/>
            <a:ext cx="4974336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252A2E"/>
                </a:solidFill>
                <a:latin typeface="Aptos"/>
              </a:rPr>
              <a:t>The Nexys A7 combines onboard </a:t>
            </a:r>
            <a:r>
              <a:rPr sz="1400" b="0">
                <a:solidFill>
                  <a:srgbClr val="252A2E"/>
                </a:solidFill>
                <a:latin typeface="Aptos"/>
              </a:rPr>
              <a:t>configuration flash</a:t>
            </a:r>
            <a:r>
              <a:rPr lang="en-US" sz="1400" b="0">
                <a:solidFill>
                  <a:srgbClr val="252A2E"/>
                </a:solidFill>
                <a:latin typeface="Aptos"/>
              </a:rPr>
              <a:t> with 7-series MultiBoot and fallback support for multiple FPGA images</a:t>
            </a:r>
            <a:r>
              <a:rPr sz="1400" b="0">
                <a:solidFill>
                  <a:srgbClr val="252A2E"/>
                </a:solidFill>
                <a:latin typeface="Aptos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" y="5961888"/>
            <a:ext cx="4818888" cy="36576"/>
          </a:xfrm>
          <a:prstGeom prst="rect">
            <a:avLst/>
          </a:prstGeom>
          <a:solidFill>
            <a:srgbClr val="F2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" y="6035040"/>
            <a:ext cx="4974336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300" b="1">
                <a:solidFill>
                  <a:srgbClr val="686C70"/>
                </a:solidFill>
                <a:latin typeface="Aptos Display"/>
              </a:rPr>
              <a:t>A native MultiBoot development board costs $349</a:t>
            </a:r>
            <a:r>
              <a:rPr sz="1300" b="1">
                <a:solidFill>
                  <a:srgbClr val="686C70"/>
                </a:solidFill>
                <a:latin typeface="Aptos Display"/>
              </a:rPr>
              <a:t>—</a:t>
            </a:r>
            <a:r>
              <a:rPr lang="en-IN" sz="1300" b="1">
                <a:solidFill>
                  <a:srgbClr val="686C70"/>
                </a:solidFill>
                <a:latin typeface="Aptos Display"/>
              </a:rPr>
              <a:t>before any deployment-specific hardware</a:t>
            </a:r>
            <a:r>
              <a:rPr sz="1300" b="1">
                <a:solidFill>
                  <a:srgbClr val="686C70"/>
                </a:solidFill>
                <a:latin typeface="Aptos Display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8" y="152704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006B73"/>
                </a:solidFill>
                <a:latin typeface="Aptos Display"/>
              </a:rP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856231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6B73"/>
                </a:solidFill>
                <a:latin typeface="Aptos Display"/>
              </a:rPr>
              <a:t>1 · TIME-MULTIPLEX LARGE ML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212848"/>
            <a:ext cx="3108960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2A2E"/>
                </a:solidFill>
                <a:latin typeface="Aptos"/>
              </a:rPr>
              <a:t>Partition a network into layer groups and load only the accelerator needed for the next stage. Intermediate activations stay in external memory, allowing a model larger than one FPGA image to execute sequentially.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6208" y="3621024"/>
            <a:ext cx="5330952" cy="182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-6b4e8a9850a0e084e698cd0bb1d64367.jpg"/>
          <p:cNvPicPr>
            <a:picLocks noChangeAspect="1"/>
          </p:cNvPicPr>
          <p:nvPr/>
        </p:nvPicPr>
        <p:blipFill>
          <a:blip r:embed="rId2"/>
          <a:srcRect l="5691" r="5691"/>
          <a:stretch>
            <a:fillRect/>
          </a:stretch>
        </p:blipFill>
        <p:spPr>
          <a:xfrm>
            <a:off x="6236208" y="3931920"/>
            <a:ext cx="1993392" cy="14996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458200" y="3913632"/>
            <a:ext cx="31089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6B73"/>
                </a:solidFill>
                <a:latin typeface="Aptos Display"/>
              </a:rPr>
              <a:t>2 · ADAPT HARDWARE TO THE SITUATION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480560"/>
            <a:ext cx="3108960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252A2E"/>
                </a:solidFill>
                <a:latin typeface="Aptos"/>
              </a:rPr>
              <a:t>Switch complete logic images as conditions change: high-throughput processing when demand is high, low-power monitoring while idle, or a known-good recovery design after a detected fault.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528816"/>
            <a:ext cx="1037844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86C70"/>
                </a:solidFill>
                <a:latin typeface="Aptos"/>
              </a:rPr>
              <a:t>Sources: Digilent </a:t>
            </a:r>
            <a:r>
              <a:rPr lang="en-IN" sz="750" b="0">
                <a:solidFill>
                  <a:srgbClr val="686C70"/>
                </a:solidFill>
                <a:latin typeface="Aptos"/>
              </a:rPr>
              <a:t>Nexys A7 </a:t>
            </a:r>
            <a:r>
              <a:rPr sz="750" b="0">
                <a:solidFill>
                  <a:srgbClr val="686C70"/>
                </a:solidFill>
                <a:latin typeface="Aptos"/>
              </a:rPr>
              <a:t>product page · AMD XAPP1247 MultiBoot with 7 Series FPGAs and SPI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10528"/>
            <a:ext cx="265176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6B73"/>
                </a:solidFill>
                <a:latin typeface="Aptos Display"/>
              </a:rPr>
              <a:t>03</a:t>
            </a:r>
          </a:p>
        </p:txBody>
      </p:sp>
      <p:pic>
        <p:nvPicPr>
          <p:cNvPr id="26" name="Picture 25" descr="Neural networks and deep learning">
            <a:extLst>
              <a:ext uri="{FF2B5EF4-FFF2-40B4-BE49-F238E27FC236}">
                <a16:creationId xmlns:a16="http://schemas.microsoft.com/office/drawing/2014/main" id="{C372CCF0-14E0-AA21-4FE0-374AE44FD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616" y="2028849"/>
            <a:ext cx="2244353" cy="11177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00000003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12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04</a:t>
            </a:r>
            <a:r>
              <a:rPr sz="112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 / OUR SOLUTION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3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000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rPr>
              <a:t>A streamed path from memory to any target FPGA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3-0003-4000-8000-000000000000}"/>
              </a:ext>
            </a:extLst>
          </p:cNvPr>
          <p:cNvSpPr>
            <a:spLocks noGrp="1"/>
          </p:cNvSpPr>
          <p:nvPr/>
        </p:nvSpPr>
        <p:spPr>
          <a:xfrm>
            <a:off x="1733550" y="1314450"/>
            <a:ext cx="8686800" cy="4438650"/>
          </a:xfrm>
          <a:prstGeom prst="rect">
            <a:avLst/>
          </a:prstGeom>
          <a:solidFill>
            <a:srgbClr val="FFFDF8"/>
          </a:solidFill>
          <a:ln w="19050">
            <a:solidFill>
              <a:srgbClr val="18AFC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3-0004-4000-8000-000000000000}"/>
              </a:ext>
            </a:extLst>
          </p:cNvPr>
          <p:cNvSpPr>
            <a:spLocks noGrp="1"/>
          </p:cNvSpPr>
          <p:nvPr/>
        </p:nvSpPr>
        <p:spPr>
          <a:xfrm>
            <a:off x="1943100" y="1466850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/>
              <a:t>ASIC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3-0005-4000-8000-000000000000}"/>
              </a:ext>
            </a:extLst>
          </p:cNvPr>
          <p:cNvSpPr>
            <a:spLocks noGrp="1"/>
          </p:cNvSpPr>
          <p:nvPr/>
        </p:nvSpPr>
        <p:spPr>
          <a:xfrm>
            <a:off x="266700" y="2438400"/>
            <a:ext cx="1219200" cy="742950"/>
          </a:xfrm>
          <a:prstGeom prst="rect">
            <a:avLst/>
          </a:prstGeom>
          <a:solidFill>
            <a:srgbClr val="252A2E"/>
          </a:solidFill>
          <a:ln w="19050">
            <a:solidFill>
              <a:srgbClr val="252A2E"/>
            </a:solidFill>
            <a:prstDash val="solid"/>
          </a:ln>
        </p:spPr>
        <p:txBody>
          <a:bodyPr lIns="95250" tIns="57150" rIns="95250" bIns="571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MEMORY</a:t>
            </a:r>
          </a:p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3-0006-4000-8000-000000000000}"/>
              </a:ext>
            </a:extLst>
          </p:cNvPr>
          <p:cNvSpPr>
            <a:spLocks noGrp="1"/>
          </p:cNvSpPr>
          <p:nvPr/>
        </p:nvSpPr>
        <p:spPr>
          <a:xfrm>
            <a:off x="2209800" y="2343150"/>
            <a:ext cx="1619250" cy="876300"/>
          </a:xfrm>
          <a:prstGeom prst="rect">
            <a:avLst/>
          </a:prstGeom>
          <a:solidFill>
            <a:srgbClr val="FFFDF8"/>
          </a:solidFill>
          <a:ln w="19050">
            <a:solidFill>
              <a:srgbClr val="252A2E"/>
            </a:solidFill>
            <a:prstDash val="solid"/>
          </a:ln>
        </p:spPr>
        <p:txBody>
          <a:bodyPr lIns="95250" tIns="57150" rIns="95250" bIns="57150" anchor="ctr">
            <a:normAutofit/>
          </a:bodyPr>
          <a:lstStyle/>
          <a:p>
            <a:pPr algn="ctr">
              <a:defRPr sz="1350" b="1">
                <a:solidFill>
                  <a:srgbClr val="252A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2A2E"/>
                </a:solidFill>
                <a:latin typeface="Aptos"/>
                <a:ea typeface="Aptos"/>
                <a:cs typeface="Aptos"/>
              </a:rPr>
              <a:t>SPI MEMORY</a:t>
            </a:r>
          </a:p>
          <a:p>
            <a:pPr algn="ctr">
              <a:defRPr sz="1350" b="1">
                <a:solidFill>
                  <a:srgbClr val="252A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2A2E"/>
                </a:solidFill>
                <a:latin typeface="Aptos"/>
                <a:ea typeface="Aptos"/>
                <a:cs typeface="Aptos"/>
              </a:rPr>
              <a:t>INTERFACE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3-0007-4000-8000-000000000000}"/>
              </a:ext>
            </a:extLst>
          </p:cNvPr>
          <p:cNvSpPr>
            <a:spLocks noGrp="1"/>
          </p:cNvSpPr>
          <p:nvPr/>
        </p:nvSpPr>
        <p:spPr>
          <a:xfrm>
            <a:off x="4667250" y="2400300"/>
            <a:ext cx="1257300" cy="762000"/>
          </a:xfrm>
          <a:prstGeom prst="rect">
            <a:avLst/>
          </a:prstGeom>
          <a:solidFill>
            <a:srgbClr val="D9EFF1"/>
          </a:solidFill>
          <a:ln w="19050">
            <a:solidFill>
              <a:srgbClr val="006B73"/>
            </a:solidFill>
            <a:prstDash val="solid"/>
          </a:ln>
        </p:spPr>
        <p:txBody>
          <a:bodyPr lIns="95250" tIns="57150" rIns="95250" bIns="57150" anchor="ctr">
            <a:normAutofit/>
          </a:bodyPr>
          <a:lstStyle/>
          <a:p>
            <a:pPr algn="ctr">
              <a:defRPr sz="1725" b="1">
                <a:solidFill>
                  <a:srgbClr val="252A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2A2E"/>
                </a:solidFill>
                <a:latin typeface="Aptos"/>
                <a:ea typeface="Aptos"/>
                <a:cs typeface="Aptos"/>
              </a:rPr>
              <a:t>DMA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000003-0008-4000-8000-000000000000}"/>
              </a:ext>
            </a:extLst>
          </p:cNvPr>
          <p:cNvSpPr>
            <a:spLocks noGrp="1"/>
          </p:cNvSpPr>
          <p:nvPr/>
        </p:nvSpPr>
        <p:spPr>
          <a:xfrm>
            <a:off x="6858000" y="2400300"/>
            <a:ext cx="1619250" cy="762000"/>
          </a:xfrm>
          <a:prstGeom prst="rect">
            <a:avLst/>
          </a:prstGeom>
          <a:solidFill>
            <a:srgbClr val="FFFDF8"/>
          </a:solidFill>
          <a:ln w="19050">
            <a:solidFill>
              <a:srgbClr val="252A2E"/>
            </a:solidFill>
            <a:prstDash val="solid"/>
          </a:ln>
        </p:spPr>
        <p:txBody>
          <a:bodyPr lIns="95250" tIns="57150" rIns="95250" bIns="57150" anchor="ctr">
            <a:normAutofit/>
          </a:bodyPr>
          <a:lstStyle/>
          <a:p>
            <a:pPr algn="ctr">
              <a:defRPr sz="1425" b="1">
                <a:solidFill>
                  <a:srgbClr val="252A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2A2E"/>
                </a:solidFill>
                <a:latin typeface="Aptos"/>
                <a:ea typeface="Aptos"/>
                <a:cs typeface="Aptos"/>
              </a:rPr>
              <a:t>JTAG FLASH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000003-0009-4000-8000-000000000000}"/>
              </a:ext>
            </a:extLst>
          </p:cNvPr>
          <p:cNvSpPr>
            <a:spLocks noGrp="1"/>
          </p:cNvSpPr>
          <p:nvPr/>
        </p:nvSpPr>
        <p:spPr>
          <a:xfrm>
            <a:off x="10706100" y="2438400"/>
            <a:ext cx="1219200" cy="742950"/>
          </a:xfrm>
          <a:prstGeom prst="rect">
            <a:avLst/>
          </a:prstGeom>
          <a:solidFill>
            <a:srgbClr val="252A2E"/>
          </a:solidFill>
          <a:ln w="19050">
            <a:solidFill>
              <a:srgbClr val="252A2E"/>
            </a:solidFill>
            <a:prstDash val="solid"/>
          </a:ln>
        </p:spPr>
        <p:txBody>
          <a:bodyPr lIns="95250" tIns="57150" rIns="95250" bIns="5715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TARGET</a:t>
            </a:r>
          </a:p>
          <a:p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FPGA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00003-000A-4000-8000-000000000000}"/>
              </a:ext>
            </a:extLst>
          </p:cNvPr>
          <p:cNvSpPr>
            <a:spLocks noGrp="1"/>
          </p:cNvSpPr>
          <p:nvPr/>
        </p:nvSpPr>
        <p:spPr>
          <a:xfrm>
            <a:off x="4933950" y="4343400"/>
            <a:ext cx="2495550" cy="800100"/>
          </a:xfrm>
          <a:prstGeom prst="rect">
            <a:avLst/>
          </a:prstGeom>
          <a:solidFill>
            <a:srgbClr val="D9EFF1"/>
          </a:solidFill>
          <a:ln w="19050">
            <a:solidFill>
              <a:srgbClr val="006B73"/>
            </a:solidFill>
            <a:prstDash val="solid"/>
          </a:ln>
        </p:spPr>
        <p:txBody>
          <a:bodyPr lIns="95250" tIns="57150" rIns="95250" bIns="57150" anchor="ctr">
            <a:normAutofit/>
          </a:bodyPr>
          <a:lstStyle/>
          <a:p>
            <a:pPr algn="ctr">
              <a:defRPr sz="1725" b="1">
                <a:solidFill>
                  <a:srgbClr val="252A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52A2E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000003-000B-4000-8000-000000000000}"/>
              </a:ext>
            </a:extLst>
          </p:cNvPr>
          <p:cNvSpPr>
            <a:spLocks noGrp="1"/>
          </p:cNvSpPr>
          <p:nvPr/>
        </p:nvSpPr>
        <p:spPr>
          <a:xfrm>
            <a:off x="2857500" y="4514850"/>
            <a:ext cx="1428750" cy="457200"/>
          </a:xfrm>
          <a:prstGeom prst="rect">
            <a:avLst/>
          </a:prstGeom>
          <a:solidFill>
            <a:srgbClr val="FFFDF8"/>
          </a:solidFill>
          <a:ln w="19050">
            <a:solidFill>
              <a:srgbClr val="252A2E"/>
            </a:solidFill>
            <a:prstDash val="solid"/>
          </a:ln>
        </p:spPr>
        <p:txBody>
          <a:bodyPr lIns="95250" tIns="57150" rIns="95250" bIns="57150" anchor="ctr">
            <a:normAutofit/>
          </a:bodyPr>
          <a:lstStyle/>
          <a:p>
            <a:pPr algn="ctr">
              <a:defRPr sz="1200" b="1">
                <a:solidFill>
                  <a:srgbClr val="252A2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2A2E"/>
                </a:solidFill>
                <a:latin typeface="Aptos"/>
                <a:ea typeface="Aptos"/>
                <a:cs typeface="Aptos"/>
              </a:rPr>
              <a:t>PARAMETERS</a:t>
            </a:r>
          </a:p>
        </p:txBody>
      </p:sp>
      <p:cxnSp>
        <p:nvCxnSpPr>
          <p:cNvPr id="55" name="Straight Arrow Connector 54"/>
          <p:cNvCxnSpPr>
            <a:stCxn id="5" idx="3"/>
            <a:endCxn id="6" idx="1"/>
          </p:cNvCxnSpPr>
          <p:nvPr/>
        </p:nvCxnSpPr>
        <p:spPr>
          <a:xfrm flipV="1">
            <a:off x="1485900" y="2781300"/>
            <a:ext cx="723900" cy="28575"/>
          </a:xfrm>
          <a:prstGeom prst="straightConnector1">
            <a:avLst/>
          </a:prstGeom>
          <a:ln w="28575">
            <a:solidFill>
              <a:srgbClr val="252A2E"/>
            </a:solidFill>
            <a:prstDash val="solid"/>
            <a:tailEnd type="arrow" w="med" len="med"/>
          </a:ln>
        </p:spPr>
      </p:cxnSp>
      <p:cxnSp>
        <p:nvCxnSpPr>
          <p:cNvPr id="56" name="Straight Arrow Connector 55"/>
          <p:cNvCxnSpPr>
            <a:stCxn id="6" idx="3"/>
            <a:endCxn id="7" idx="1"/>
          </p:cNvCxnSpPr>
          <p:nvPr/>
        </p:nvCxnSpPr>
        <p:spPr>
          <a:xfrm>
            <a:off x="3829050" y="2781300"/>
            <a:ext cx="838200" cy="0"/>
          </a:xfrm>
          <a:prstGeom prst="straightConnector1">
            <a:avLst/>
          </a:prstGeom>
          <a:ln w="28575">
            <a:solidFill>
              <a:srgbClr val="18AFC2"/>
            </a:solidFill>
            <a:prstDash val="solid"/>
            <a:tailEnd type="arrow" w="med" len="med"/>
          </a:ln>
        </p:spPr>
      </p:cxnSp>
      <p:cxnSp>
        <p:nvCxnSpPr>
          <p:cNvPr id="57" name="Straight Arrow Connector 56"/>
          <p:cNvCxnSpPr>
            <a:stCxn id="7" idx="3"/>
            <a:endCxn id="8" idx="1"/>
          </p:cNvCxnSpPr>
          <p:nvPr/>
        </p:nvCxnSpPr>
        <p:spPr>
          <a:xfrm>
            <a:off x="5924550" y="2781300"/>
            <a:ext cx="933450" cy="0"/>
          </a:xfrm>
          <a:prstGeom prst="straightConnector1">
            <a:avLst/>
          </a:prstGeom>
          <a:ln w="28575">
            <a:solidFill>
              <a:srgbClr val="18AFC2"/>
            </a:solidFill>
            <a:prstDash val="solid"/>
            <a:tailEnd type="arrow" w="med" len="med"/>
          </a:ln>
        </p:spPr>
      </p:cxnSp>
      <p:cxnSp>
        <p:nvCxnSpPr>
          <p:cNvPr id="58" name="Straight Arrow Connector 57"/>
          <p:cNvCxnSpPr>
            <a:stCxn id="8" idx="3"/>
            <a:endCxn id="9" idx="1"/>
          </p:cNvCxnSpPr>
          <p:nvPr/>
        </p:nvCxnSpPr>
        <p:spPr>
          <a:xfrm>
            <a:off x="8477250" y="2781300"/>
            <a:ext cx="2228850" cy="28575"/>
          </a:xfrm>
          <a:prstGeom prst="straightConnector1">
            <a:avLst/>
          </a:prstGeom>
          <a:ln w="28575">
            <a:solidFill>
              <a:srgbClr val="252A2E"/>
            </a:solidFill>
            <a:prstDash val="solid"/>
            <a:tailEnd type="arrow" w="med" len="med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0000003-000C-4000-8000-000000000000}"/>
              </a:ext>
            </a:extLst>
          </p:cNvPr>
          <p:cNvSpPr>
            <a:spLocks noGrp="1"/>
          </p:cNvSpPr>
          <p:nvPr/>
        </p:nvSpPr>
        <p:spPr>
          <a:xfrm>
            <a:off x="1600200" y="2552700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86C7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86C70"/>
                </a:solidFill>
                <a:latin typeface="Aptos Display"/>
                <a:ea typeface="Aptos Display"/>
                <a:cs typeface="Aptos Display"/>
              </a:rPr>
              <a:t>SPI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3-000D-4000-8000-000000000000}"/>
              </a:ext>
            </a:extLst>
          </p:cNvPr>
          <p:cNvSpPr>
            <a:spLocks noGrp="1"/>
          </p:cNvSpPr>
          <p:nvPr/>
        </p:nvSpPr>
        <p:spPr>
          <a:xfrm>
            <a:off x="3867150" y="2095500"/>
            <a:ext cx="76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4"/>
          </a:bodyPr>
          <a:lstStyle/>
          <a:p>
            <a:pPr algn="ctr">
              <a:defRPr sz="97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AXI4-STREAM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3-000E-4000-8000-000000000000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800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154"/>
          </a:bodyPr>
          <a:lstStyle/>
          <a:p>
            <a:pPr algn="ctr">
              <a:defRPr sz="97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AXI4-STREAM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3-000F-4000-8000-000000000000}"/>
              </a:ext>
            </a:extLst>
          </p:cNvPr>
          <p:cNvSpPr>
            <a:spLocks noGrp="1"/>
          </p:cNvSpPr>
          <p:nvPr/>
        </p:nvSpPr>
        <p:spPr>
          <a:xfrm>
            <a:off x="8763000" y="2552700"/>
            <a:ext cx="16954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050" b="1">
                <a:solidFill>
                  <a:srgbClr val="686C7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86C70"/>
                </a:solidFill>
                <a:latin typeface="Aptos Display"/>
                <a:ea typeface="Aptos Display"/>
                <a:cs typeface="Aptos Display"/>
              </a:rPr>
              <a:t>JTAG</a:t>
            </a:r>
          </a:p>
        </p:txBody>
      </p:sp>
      <p:cxnSp>
        <p:nvCxnSpPr>
          <p:cNvPr id="63" name="Connector: Elbow 62"/>
          <p:cNvCxnSpPr>
            <a:stCxn id="10" idx="0"/>
            <a:endCxn id="6" idx="2"/>
          </p:cNvCxnSpPr>
          <p:nvPr/>
        </p:nvCxnSpPr>
        <p:spPr>
          <a:xfrm flipH="1" flipV="1">
            <a:off x="3019425" y="3219450"/>
            <a:ext cx="3162300" cy="112395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6B73"/>
            </a:solidFill>
            <a:prstDash val="solid"/>
            <a:tailEnd type="arrow" w="sm" len="sm"/>
          </a:ln>
        </p:spPr>
      </p:cxnSp>
      <p:cxnSp>
        <p:nvCxnSpPr>
          <p:cNvPr id="64" name="Connector: Elbow 63"/>
          <p:cNvCxnSpPr>
            <a:stCxn id="10" idx="0"/>
            <a:endCxn id="7" idx="2"/>
          </p:cNvCxnSpPr>
          <p:nvPr/>
        </p:nvCxnSpPr>
        <p:spPr>
          <a:xfrm flipH="1" flipV="1">
            <a:off x="5295900" y="3162300"/>
            <a:ext cx="885825" cy="11811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6B73"/>
            </a:solidFill>
            <a:prstDash val="solid"/>
            <a:tailEnd type="arrow" w="sm" len="sm"/>
          </a:ln>
        </p:spPr>
      </p:cxnSp>
      <p:cxnSp>
        <p:nvCxnSpPr>
          <p:cNvPr id="65" name="Connector: Elbow 64"/>
          <p:cNvCxnSpPr>
            <a:stCxn id="10" idx="0"/>
            <a:endCxn id="8" idx="2"/>
          </p:cNvCxnSpPr>
          <p:nvPr/>
        </p:nvCxnSpPr>
        <p:spPr>
          <a:xfrm flipV="1">
            <a:off x="6181725" y="3162300"/>
            <a:ext cx="1485900" cy="11811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006B73"/>
            </a:solidFill>
            <a:prstDash val="solid"/>
            <a:tailEnd type="arrow" w="sm" len="sm"/>
          </a:ln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00000003-0010-4000-8000-000000000000}"/>
              </a:ext>
            </a:extLst>
          </p:cNvPr>
          <p:cNvSpPr>
            <a:spLocks noGrp="1"/>
          </p:cNvSpPr>
          <p:nvPr/>
        </p:nvSpPr>
        <p:spPr>
          <a:xfrm>
            <a:off x="3257550" y="37338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AXI4-LITE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0000003-0011-4000-8000-000000000000}"/>
              </a:ext>
            </a:extLst>
          </p:cNvPr>
          <p:cNvSpPr>
            <a:spLocks noGrp="1"/>
          </p:cNvSpPr>
          <p:nvPr/>
        </p:nvSpPr>
        <p:spPr>
          <a:xfrm>
            <a:off x="5162550" y="37338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AXI4-LITE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000003-0012-4000-8000-000000000000}"/>
              </a:ext>
            </a:extLst>
          </p:cNvPr>
          <p:cNvSpPr>
            <a:spLocks noGrp="1"/>
          </p:cNvSpPr>
          <p:nvPr/>
        </p:nvSpPr>
        <p:spPr>
          <a:xfrm>
            <a:off x="7239000" y="3733800"/>
            <a:ext cx="8763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7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AXI4-LITE</a:t>
            </a:r>
          </a:p>
        </p:txBody>
      </p:sp>
      <p:cxnSp>
        <p:nvCxnSpPr>
          <p:cNvPr id="69" name="Straight Arrow Connector 68"/>
          <p:cNvCxnSpPr>
            <a:stCxn id="11" idx="3"/>
            <a:endCxn id="10" idx="1"/>
          </p:cNvCxnSpPr>
          <p:nvPr/>
        </p:nvCxnSpPr>
        <p:spPr>
          <a:xfrm>
            <a:off x="4286250" y="4743450"/>
            <a:ext cx="647700" cy="0"/>
          </a:xfrm>
          <a:prstGeom prst="straightConnector1">
            <a:avLst/>
          </a:prstGeom>
          <a:ln w="19050">
            <a:solidFill>
              <a:srgbClr val="252A2E"/>
            </a:solidFill>
            <a:prstDash val="solid"/>
            <a:tailEnd type="arrow" w="sm" len="sm"/>
          </a:ln>
        </p:spPr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00000003-0013-4000-8000-000000000000}"/>
              </a:ext>
            </a:extLst>
          </p:cNvPr>
          <p:cNvSpPr>
            <a:spLocks noGrp="1"/>
          </p:cNvSpPr>
          <p:nvPr/>
        </p:nvSpPr>
        <p:spPr>
          <a:xfrm>
            <a:off x="10380804" y="4000500"/>
            <a:ext cx="95250" cy="95250"/>
          </a:xfrm>
          <a:prstGeom prst="ellipse">
            <a:avLst/>
          </a:prstGeom>
          <a:solidFill>
            <a:srgbClr val="F1A13A"/>
          </a:solidFill>
          <a:ln w="9525">
            <a:solidFill>
              <a:srgbClr val="F1A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0000003-0014-4000-8000-000000000000}"/>
              </a:ext>
            </a:extLst>
          </p:cNvPr>
          <p:cNvSpPr>
            <a:spLocks noGrp="1"/>
          </p:cNvSpPr>
          <p:nvPr/>
        </p:nvSpPr>
        <p:spPr>
          <a:xfrm>
            <a:off x="10380804" y="4324350"/>
            <a:ext cx="95250" cy="95250"/>
          </a:xfrm>
          <a:prstGeom prst="ellipse">
            <a:avLst/>
          </a:prstGeom>
          <a:solidFill>
            <a:srgbClr val="F1A13A"/>
          </a:solidFill>
          <a:ln w="9525">
            <a:solidFill>
              <a:srgbClr val="F1A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0000003-0015-4000-8000-000000000000}"/>
              </a:ext>
            </a:extLst>
          </p:cNvPr>
          <p:cNvSpPr>
            <a:spLocks noGrp="1"/>
          </p:cNvSpPr>
          <p:nvPr/>
        </p:nvSpPr>
        <p:spPr>
          <a:xfrm>
            <a:off x="10361754" y="4648200"/>
            <a:ext cx="95250" cy="95250"/>
          </a:xfrm>
          <a:prstGeom prst="ellipse">
            <a:avLst/>
          </a:prstGeom>
          <a:solidFill>
            <a:srgbClr val="F1A13A"/>
          </a:solidFill>
          <a:ln w="9525">
            <a:solidFill>
              <a:srgbClr val="F1A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0000003-0016-4000-8000-000000000000}"/>
              </a:ext>
            </a:extLst>
          </p:cNvPr>
          <p:cNvSpPr>
            <a:spLocks noGrp="1"/>
          </p:cNvSpPr>
          <p:nvPr/>
        </p:nvSpPr>
        <p:spPr>
          <a:xfrm>
            <a:off x="10361754" y="5200650"/>
            <a:ext cx="95250" cy="95250"/>
          </a:xfrm>
          <a:prstGeom prst="ellipse">
            <a:avLst/>
          </a:prstGeom>
          <a:solidFill>
            <a:srgbClr val="F1A13A"/>
          </a:solidFill>
          <a:ln w="9525">
            <a:solidFill>
              <a:srgbClr val="F1A1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cxnSp>
        <p:nvCxnSpPr>
          <p:cNvPr id="74" name="Connector: Elbow 73"/>
          <p:cNvCxnSpPr>
            <a:stCxn id="27" idx="2"/>
            <a:endCxn id="10" idx="3"/>
          </p:cNvCxnSpPr>
          <p:nvPr/>
        </p:nvCxnSpPr>
        <p:spPr>
          <a:xfrm rot="10800000" flipV="1">
            <a:off x="7429500" y="4048124"/>
            <a:ext cx="2951304" cy="695325"/>
          </a:xfrm>
          <a:prstGeom prst="bentConnector3">
            <a:avLst>
              <a:gd name="adj1" fmla="val 50000"/>
            </a:avLst>
          </a:prstGeom>
          <a:ln w="19050">
            <a:solidFill>
              <a:srgbClr val="F1A13A"/>
            </a:solidFill>
            <a:prstDash val="solid"/>
            <a:tailEnd type="arrow" w="sm" len="sm"/>
          </a:ln>
        </p:spPr>
      </p:cxnSp>
      <p:cxnSp>
        <p:nvCxnSpPr>
          <p:cNvPr id="75" name="Connector: Elbow 74"/>
          <p:cNvCxnSpPr>
            <a:stCxn id="28" idx="2"/>
            <a:endCxn id="10" idx="3"/>
          </p:cNvCxnSpPr>
          <p:nvPr/>
        </p:nvCxnSpPr>
        <p:spPr>
          <a:xfrm rot="10800000" flipV="1">
            <a:off x="7429500" y="4371974"/>
            <a:ext cx="2951304" cy="371475"/>
          </a:xfrm>
          <a:prstGeom prst="bentConnector3">
            <a:avLst>
              <a:gd name="adj1" fmla="val 50000"/>
            </a:avLst>
          </a:prstGeom>
          <a:ln w="19050">
            <a:solidFill>
              <a:srgbClr val="F1A13A"/>
            </a:solidFill>
            <a:prstDash val="solid"/>
            <a:tailEnd type="arrow" w="sm" len="sm"/>
          </a:ln>
        </p:spPr>
      </p:cxnSp>
      <p:cxnSp>
        <p:nvCxnSpPr>
          <p:cNvPr id="76" name="Connector: Elbow 75"/>
          <p:cNvCxnSpPr>
            <a:stCxn id="29" idx="2"/>
            <a:endCxn id="10" idx="3"/>
          </p:cNvCxnSpPr>
          <p:nvPr/>
        </p:nvCxnSpPr>
        <p:spPr>
          <a:xfrm rot="10800000" flipV="1">
            <a:off x="7429500" y="4695824"/>
            <a:ext cx="2932254" cy="47625"/>
          </a:xfrm>
          <a:prstGeom prst="bentConnector3">
            <a:avLst>
              <a:gd name="adj1" fmla="val 50000"/>
            </a:avLst>
          </a:prstGeom>
          <a:ln w="19050">
            <a:solidFill>
              <a:srgbClr val="F1A13A"/>
            </a:solidFill>
            <a:prstDash val="solid"/>
            <a:tailEnd type="arrow" w="sm" len="sm"/>
          </a:ln>
        </p:spPr>
      </p:cxnSp>
      <p:cxnSp>
        <p:nvCxnSpPr>
          <p:cNvPr id="77" name="Connector: Elbow 76"/>
          <p:cNvCxnSpPr>
            <a:cxnSpLocks/>
          </p:cNvCxnSpPr>
          <p:nvPr/>
        </p:nvCxnSpPr>
        <p:spPr>
          <a:xfrm rot="10800000">
            <a:off x="7437184" y="4720399"/>
            <a:ext cx="2932254" cy="504825"/>
          </a:xfrm>
          <a:prstGeom prst="bentConnector3">
            <a:avLst>
              <a:gd name="adj1" fmla="val 50000"/>
            </a:avLst>
          </a:prstGeom>
          <a:ln w="19050">
            <a:solidFill>
              <a:srgbClr val="F1A13A"/>
            </a:solidFill>
            <a:prstDash val="solid"/>
            <a:tailEnd type="arrow" w="sm" len="sm"/>
          </a:ln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0000003-0017-4000-8000-000000000000}"/>
              </a:ext>
            </a:extLst>
          </p:cNvPr>
          <p:cNvSpPr>
            <a:spLocks noGrp="1"/>
          </p:cNvSpPr>
          <p:nvPr/>
        </p:nvSpPr>
        <p:spPr>
          <a:xfrm>
            <a:off x="10533204" y="400050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rPr>
              <a:t>INTERRUPT 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0000003-0018-4000-8000-000000000000}"/>
              </a:ext>
            </a:extLst>
          </p:cNvPr>
          <p:cNvSpPr>
            <a:spLocks noGrp="1"/>
          </p:cNvSpPr>
          <p:nvPr/>
        </p:nvSpPr>
        <p:spPr>
          <a:xfrm>
            <a:off x="10533204" y="432435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dirty="0">
                <a:solidFill>
                  <a:srgbClr val="252A2E"/>
                </a:solidFill>
                <a:latin typeface="Aptos Display"/>
                <a:ea typeface="Aptos Display"/>
                <a:cs typeface="Aptos Display"/>
              </a:rPr>
              <a:t>INTERRUPT 2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000003-0019-4000-8000-000000000000}"/>
              </a:ext>
            </a:extLst>
          </p:cNvPr>
          <p:cNvSpPr>
            <a:spLocks noGrp="1"/>
          </p:cNvSpPr>
          <p:nvPr/>
        </p:nvSpPr>
        <p:spPr>
          <a:xfrm>
            <a:off x="10533204" y="4648200"/>
            <a:ext cx="1000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rPr>
              <a:t>INTERRUPT 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0000003-001A-4000-8000-000000000000}"/>
              </a:ext>
            </a:extLst>
          </p:cNvPr>
          <p:cNvSpPr>
            <a:spLocks noGrp="1"/>
          </p:cNvSpPr>
          <p:nvPr/>
        </p:nvSpPr>
        <p:spPr>
          <a:xfrm>
            <a:off x="10761804" y="49339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350" b="1">
                <a:solidFill>
                  <a:srgbClr val="686C70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686C70"/>
                </a:solidFill>
                <a:latin typeface="Aptos Display"/>
                <a:ea typeface="Aptos Display"/>
                <a:cs typeface="Aptos Display"/>
              </a:rPr>
              <a:t>⋮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0000003-001B-4000-8000-000000000000}"/>
              </a:ext>
            </a:extLst>
          </p:cNvPr>
          <p:cNvSpPr>
            <a:spLocks noGrp="1"/>
          </p:cNvSpPr>
          <p:nvPr/>
        </p:nvSpPr>
        <p:spPr>
          <a:xfrm>
            <a:off x="10533204" y="5200650"/>
            <a:ext cx="1047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975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rPr>
              <a:t>INTERRUPT 16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0000003-001C-4000-8000-000000000000}"/>
              </a:ext>
            </a:extLst>
          </p:cNvPr>
          <p:cNvSpPr>
            <a:spLocks noGrp="1"/>
          </p:cNvSpPr>
          <p:nvPr/>
        </p:nvSpPr>
        <p:spPr>
          <a:xfrm>
            <a:off x="419100" y="21717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686C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C70"/>
                </a:solidFill>
                <a:latin typeface="Aptos"/>
                <a:ea typeface="Aptos"/>
                <a:cs typeface="Aptos"/>
              </a:rPr>
              <a:t>External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0000003-001D-4000-8000-000000000000}"/>
              </a:ext>
            </a:extLst>
          </p:cNvPr>
          <p:cNvSpPr>
            <a:spLocks noGrp="1"/>
          </p:cNvSpPr>
          <p:nvPr/>
        </p:nvSpPr>
        <p:spPr>
          <a:xfrm>
            <a:off x="10858500" y="2171700"/>
            <a:ext cx="914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900" b="0">
                <a:solidFill>
                  <a:srgbClr val="686C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6C70"/>
                </a:solidFill>
                <a:latin typeface="Aptos"/>
                <a:ea typeface="Aptos"/>
                <a:cs typeface="Aptos"/>
              </a:rPr>
              <a:t>External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0000003-001E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0000" lnSpcReduction="20000"/>
          </a:bodyPr>
          <a:lstStyle/>
          <a:p>
            <a:endParaRPr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0000003-001F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900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04</a:t>
            </a:r>
            <a:endParaRPr sz="900" b="1">
              <a:solidFill>
                <a:srgbClr val="006B73"/>
              </a:solidFill>
              <a:latin typeface="Aptos Display"/>
              <a:ea typeface="Aptos Display"/>
              <a:cs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228600"/>
            <a:ext cx="292608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1100" b="1">
                <a:solidFill>
                  <a:srgbClr val="006B73"/>
                </a:solidFill>
                <a:latin typeface="Aptos Display"/>
              </a:rPr>
              <a:t>06</a:t>
            </a:r>
            <a:r>
              <a:rPr sz="1100" b="1">
                <a:solidFill>
                  <a:srgbClr val="006B73"/>
                </a:solidFill>
                <a:latin typeface="Aptos Display"/>
              </a:rPr>
              <a:t> / COMPONENT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02920"/>
            <a:ext cx="11201400" cy="53035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sz="2200" b="1">
                <a:solidFill>
                  <a:srgbClr val="252A2E"/>
                </a:solidFill>
                <a:latin typeface="Aptos Display"/>
              </a:rPr>
              <a:t>Memory Manager Architecture: Multi-Protocol Serial Flash Controller &amp; Functional Verification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15568"/>
            <a:ext cx="11228832" cy="16459"/>
          </a:xfrm>
          <a:prstGeom prst="rect">
            <a:avLst/>
          </a:prstGeom>
          <a:solidFill>
            <a:srgbClr val="C9C5BB"/>
          </a:solidFill>
          <a:ln w="10160">
            <a:solidFill>
              <a:srgbClr val="C9C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80760" y="1280160"/>
            <a:ext cx="16459" cy="5120640"/>
          </a:xfrm>
          <a:prstGeom prst="rect">
            <a:avLst/>
          </a:prstGeom>
          <a:solidFill>
            <a:srgbClr val="C9C5BB"/>
          </a:solidFill>
          <a:ln w="10160">
            <a:solidFill>
              <a:srgbClr val="C9C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298448"/>
            <a:ext cx="2377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006B73"/>
                </a:solidFill>
                <a:latin typeface="Aptos Display"/>
              </a:rPr>
              <a:t>DUT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280160"/>
            <a:ext cx="1508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1100" b="1">
                <a:solidFill>
                  <a:srgbClr val="686C70"/>
                </a:solidFill>
                <a:latin typeface="Courier New"/>
              </a:rPr>
              <a:t>memory_manager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45336"/>
            <a:ext cx="5376672" cy="3383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50" b="0">
                <a:solidFill>
                  <a:srgbClr val="252A2E"/>
                </a:solidFill>
                <a:latin typeface="Aptos"/>
              </a:rPr>
              <a:t>Top-level request decoder and protocol arbiter for SPI 1-1-1, QSPI 1-4-4, and OSPI 8-8-8 reads.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920240"/>
            <a:ext cx="107899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006B73"/>
                </a:solidFill>
                <a:latin typeface="Aptos Display"/>
              </a:rPr>
              <a:t>Fabric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920240"/>
            <a:ext cx="4370832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69" b="0">
                <a:solidFill>
                  <a:srgbClr val="686C70"/>
                </a:solidFill>
                <a:latin typeface="Courier New"/>
              </a:rPr>
              <a:t>read_req · abort · addr[23:0] · length[31:0] · memory_type[2:0]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65196" y="2194560"/>
            <a:ext cx="3757324" cy="2395728"/>
          </a:xfrm>
          <a:prstGeom prst="rect">
            <a:avLst/>
          </a:prstGeom>
          <a:solidFill>
            <a:srgbClr val="152329"/>
          </a:solidFill>
          <a:ln w="10160"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92352" y="2258568"/>
            <a:ext cx="3686902" cy="22775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40" b="0" dirty="0">
                <a:solidFill>
                  <a:srgbClr val="E7F4F3"/>
                </a:solidFill>
                <a:latin typeface="Courier New"/>
              </a:rPr>
              <a:t>┌────────────────────── MEMORY_MANAGER ──────────────────────┐
│ UPSTREAM FABRIC                                            │
│ </a:t>
            </a:r>
            <a:r>
              <a:rPr sz="740" b="0" dirty="0" err="1">
                <a:solidFill>
                  <a:srgbClr val="E7F4F3"/>
                </a:solidFill>
                <a:latin typeface="Courier New"/>
              </a:rPr>
              <a:t>read_req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/abort · </a:t>
            </a:r>
            <a:r>
              <a:rPr sz="740" b="0" dirty="0" err="1">
                <a:solidFill>
                  <a:srgbClr val="E7F4F3"/>
                </a:solidFill>
                <a:latin typeface="Courier New"/>
              </a:rPr>
              <a:t>addr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[23:0] · length[31:0] · </a:t>
            </a:r>
            <a:r>
              <a:rPr sz="740" b="0" dirty="0" err="1">
                <a:solidFill>
                  <a:srgbClr val="E7F4F3"/>
                </a:solidFill>
                <a:latin typeface="Courier New"/>
              </a:rPr>
              <a:t>memory_type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   │
│              │                                             │
│       ┌──────▼─────────────┐                               │
│       │ VALIDATE + SELECT  │  reject: zero / unaligned /   │
│       └───┬──────┬──────┬─┘          invalid protocol      │
│           │      │      │                                  │
│   ┌───────▼─┐ ┌──▼──────┐ ┌▼─────────┐                    │
│   │ SPI 1-1-1│ │QSPI 1-4-4│ │OSPI 8-8-8│                   │
│   │ ENGINE L1│ │ ENGINE L4│ │ ENGINE L8│                   │
│   └────┬─────┘ └────┬────┘ └────┬────┘                    │
│    </a:t>
            </a:r>
            <a:r>
              <a:rPr sz="740" b="0" dirty="0" err="1">
                <a:solidFill>
                  <a:srgbClr val="E7F4F3"/>
                </a:solidFill>
                <a:latin typeface="Courier New"/>
              </a:rPr>
              <a:t>sclk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/cs/</a:t>
            </a:r>
            <a:r>
              <a:rPr sz="740" b="0" dirty="0" err="1">
                <a:solidFill>
                  <a:srgbClr val="E7F4F3"/>
                </a:solidFill>
                <a:latin typeface="Courier New"/>
              </a:rPr>
              <a:t>mosi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   </a:t>
            </a:r>
            <a:r>
              <a:rPr sz="740" b="0" dirty="0" err="1">
                <a:solidFill>
                  <a:srgbClr val="E7F4F3"/>
                </a:solidFill>
                <a:latin typeface="Courier New"/>
              </a:rPr>
              <a:t>qspi_io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[3:0]  </a:t>
            </a:r>
            <a:r>
              <a:rPr sz="740" b="0" dirty="0" err="1">
                <a:solidFill>
                  <a:srgbClr val="E7F4F3"/>
                </a:solidFill>
                <a:latin typeface="Courier New"/>
              </a:rPr>
              <a:t>ospi_io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[7:0]               │
│         └────────────┼────────────┘                         │
│              ┌───────▼────────┐                            │
│              │ </a:t>
            </a:r>
            <a:r>
              <a:rPr lang="en-IN" sz="740" b="0" dirty="0">
                <a:solidFill>
                  <a:srgbClr val="E7F4F3"/>
                </a:solidFill>
                <a:latin typeface="Courier New"/>
              </a:rPr>
              <a:t>AXI4-STREAM BUS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  │                            │
│              └───────┬────────┘                            │
│  </a:t>
            </a:r>
            <a:r>
              <a:rPr sz="740" b="0" dirty="0" err="1">
                <a:solidFill>
                  <a:srgbClr val="E7F4F3"/>
                </a:solidFill>
                <a:latin typeface="Courier New"/>
              </a:rPr>
              <a:t>m_axis_tdata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[31:0] · </a:t>
            </a:r>
            <a:r>
              <a:rPr sz="740" b="0" dirty="0" err="1">
                <a:solidFill>
                  <a:srgbClr val="E7F4F3"/>
                </a:solidFill>
                <a:latin typeface="Courier New"/>
              </a:rPr>
              <a:t>tkeep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[3:0] · </a:t>
            </a:r>
            <a:r>
              <a:rPr sz="740" b="0" dirty="0" err="1">
                <a:solidFill>
                  <a:srgbClr val="E7F4F3"/>
                </a:solidFill>
                <a:latin typeface="Courier New"/>
              </a:rPr>
              <a:t>tvalid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/</a:t>
            </a:r>
            <a:r>
              <a:rPr sz="740" b="0" dirty="0" err="1">
                <a:solidFill>
                  <a:srgbClr val="E7F4F3"/>
                </a:solidFill>
                <a:latin typeface="Courier New"/>
              </a:rPr>
              <a:t>tlast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            │
│  </a:t>
            </a:r>
            <a:r>
              <a:rPr sz="740" b="0" dirty="0" err="1">
                <a:solidFill>
                  <a:srgbClr val="E7F4F3"/>
                </a:solidFill>
                <a:latin typeface="Courier New"/>
              </a:rPr>
              <a:t>m_axis_tready</a:t>
            </a:r>
            <a:r>
              <a:rPr sz="740" b="0" dirty="0">
                <a:solidFill>
                  <a:srgbClr val="E7F4F3"/>
                </a:solidFill>
                <a:latin typeface="Courier New"/>
              </a:rPr>
              <a:t> → backpressure       busy/done/error        │
└────────────────────────────────────────────────────────────┘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72584"/>
            <a:ext cx="9144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006B73"/>
                </a:solidFill>
                <a:latin typeface="Aptos Display"/>
              </a:rPr>
              <a:t>ENGINE FSM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53312" y="4645152"/>
            <a:ext cx="4498848" cy="274320"/>
          </a:xfrm>
          <a:prstGeom prst="rect">
            <a:avLst/>
          </a:prstGeom>
          <a:solidFill>
            <a:srgbClr val="D9EFF1"/>
          </a:solidFill>
          <a:ln w="10160">
            <a:solidFill>
              <a:srgbClr val="18A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44752" y="4681728"/>
            <a:ext cx="431596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1">
                <a:solidFill>
                  <a:srgbClr val="006B73"/>
                </a:solidFill>
                <a:latin typeface="Courier New"/>
              </a:rPr>
              <a:t>IDLE  →  COMMAND  →  ADDRESS  →  DUMMY  →  DATA  →  STREAM_WAIT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010912"/>
            <a:ext cx="1234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006B73"/>
                </a:solidFill>
                <a:latin typeface="Aptos Display"/>
              </a:rPr>
              <a:t>Dedicated PHY pins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0784" y="5010912"/>
            <a:ext cx="41513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40" b="0">
                <a:solidFill>
                  <a:srgbClr val="686C70"/>
                </a:solidFill>
                <a:latin typeface="Courier New"/>
              </a:rPr>
              <a:t>SPI: sclk/cs_n/mosi/miso  ·  QSPI: qspi_sclk/cs_n/io[3:0]  ·  OSPI: ospi_sclk/cs_n/io[7:0]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5321808"/>
            <a:ext cx="2743200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 dirty="0">
                <a:solidFill>
                  <a:srgbClr val="006B73"/>
                </a:solidFill>
                <a:latin typeface="Aptos Display"/>
              </a:rPr>
              <a:t>KEY ARCHITECTURAL HIGHLIGHTS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5550408"/>
            <a:ext cx="5376672" cy="462178"/>
          </a:xfrm>
          <a:prstGeom prst="rect">
            <a:avLst/>
          </a:prstGeom>
          <a:noFill/>
        </p:spPr>
        <p:txBody>
          <a:bodyPr wrap="square" lIns="36576" tIns="0" rIns="18288" bIns="0">
            <a:spAutoFit/>
          </a:bodyPr>
          <a:lstStyle/>
          <a:p>
            <a:pPr>
              <a:spcAft>
                <a:spcPts val="150"/>
              </a:spcAft>
              <a:defRPr sz="890">
                <a:solidFill>
                  <a:srgbClr val="252A2E"/>
                </a:solidFill>
                <a:latin typeface="Aptos"/>
              </a:defRPr>
            </a:pPr>
            <a:r>
              <a:rPr lang="en-IN"/>
              <a:t>• </a:t>
            </a:r>
            <a:r>
              <a:t>Reusable serial_flash_read_engine parameterizes lanes, clock divider, dummy cycles, and opcode.</a:t>
            </a:r>
          </a:p>
          <a:p>
            <a:pPr>
              <a:spcAft>
                <a:spcPts val="150"/>
              </a:spcAft>
              <a:defRPr sz="890">
                <a:solidFill>
                  <a:srgbClr val="252A2E"/>
                </a:solidFill>
                <a:latin typeface="Aptos"/>
              </a:defRPr>
            </a:pPr>
            <a:r>
              <a:rPr lang="en-IN"/>
              <a:t>• </a:t>
            </a:r>
            <a:r>
              <a:t>ST_STREAM_WAIT halts SCLK while TREADY is low—preserving data under downstream backpressure.</a:t>
            </a:r>
          </a:p>
          <a:p>
            <a:pPr>
              <a:spcAft>
                <a:spcPts val="150"/>
              </a:spcAft>
              <a:defRPr sz="890">
                <a:solidFill>
                  <a:srgbClr val="252A2E"/>
                </a:solidFill>
                <a:latin typeface="Aptos"/>
              </a:defRPr>
            </a:pPr>
            <a:r>
              <a:rPr lang="en-IN"/>
              <a:t>• </a:t>
            </a:r>
            <a:r>
              <a:t>One-cycle error response traps zero length, length[2:0] ≠ 0, and invalid protocol selections.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1298448"/>
            <a:ext cx="246888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006B73"/>
                </a:solidFill>
                <a:latin typeface="Aptos Display"/>
              </a:rPr>
              <a:t>FUNCTIONAL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289304"/>
            <a:ext cx="245059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950" b="1">
                <a:solidFill>
                  <a:srgbClr val="686C70"/>
                </a:solidFill>
                <a:latin typeface="Aptos Display"/>
              </a:rPr>
              <a:t>Vivado XSim XCRG · transaction_cg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1572768"/>
            <a:ext cx="1115568" cy="731520"/>
          </a:xfrm>
          <a:prstGeom prst="rect">
            <a:avLst/>
          </a:prstGeom>
          <a:solidFill>
            <a:srgbClr val="006B73"/>
          </a:solidFill>
          <a:ln w="10160"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1627632"/>
            <a:ext cx="969264" cy="3383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 Display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011680"/>
            <a:ext cx="969264" cy="137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 Display"/>
              </a:rPr>
              <a:t>GROUP SCORE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589520" y="1572768"/>
          <a:ext cx="41148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 Display"/>
                        </a:rPr>
                        <a:t>METRIC</a:t>
                      </a:r>
                    </a:p>
                  </a:txBody>
                  <a:tcPr marL="41148" marR="41148" marT="10972" marB="10972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 Display"/>
                        </a:rPr>
                        <a:t>COVERED</a:t>
                      </a:r>
                    </a:p>
                  </a:txBody>
                  <a:tcPr marL="41148" marR="41148" marT="10972" marB="10972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 Display"/>
                        </a:rPr>
                        <a:t>TOTAL</a:t>
                      </a:r>
                    </a:p>
                  </a:txBody>
                  <a:tcPr marL="41148" marR="41148" marT="10972" marB="10972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 Display"/>
                        </a:rPr>
                        <a:t>RESULT</a:t>
                      </a:r>
                    </a:p>
                  </a:txBody>
                  <a:tcPr marL="41148" marR="41148" marT="10972" marB="10972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52A2E"/>
                          </a:solidFill>
                          <a:latin typeface="Aptos"/>
                        </a:rPr>
                        <a:t>Coverpoints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52A2E"/>
                          </a:solidFill>
                          <a:latin typeface="Aptos"/>
                        </a:rPr>
                        <a:t>Cross bins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55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55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52A2E"/>
                          </a:solidFill>
                          <a:latin typeface="Aptos"/>
                        </a:rPr>
                        <a:t>Uncovered bins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77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327648" y="2487168"/>
            <a:ext cx="219456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1">
                <a:solidFill>
                  <a:srgbClr val="006B73"/>
                </a:solidFill>
                <a:latin typeface="Aptos Display"/>
              </a:rPr>
              <a:t>COVERPOINT SUMMARY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6327648" y="2706624"/>
          <a:ext cx="2542032" cy="1389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5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Aptos Display"/>
                        </a:rPr>
                        <a:t>COVERPOINT</a:t>
                      </a:r>
                    </a:p>
                  </a:txBody>
                  <a:tcPr marL="41148" marR="41148" marT="10972" marB="10972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 Display"/>
                        </a:rPr>
                        <a:t>BINS</a:t>
                      </a:r>
                    </a:p>
                  </a:txBody>
                  <a:tcPr marL="41148" marR="41148" marT="10972" marB="10972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ptos Display"/>
                        </a:rPr>
                        <a:t>COVERAGE</a:t>
                      </a:r>
                    </a:p>
                  </a:txBody>
                  <a:tcPr marL="41148" marR="41148" marT="10972" marB="10972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52A2E"/>
                          </a:solidFill>
                          <a:latin typeface="Aptos"/>
                        </a:rPr>
                        <a:t>memory_type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4 / 4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52A2E"/>
                          </a:solidFill>
                          <a:latin typeface="Aptos"/>
                        </a:rPr>
                        <a:t>length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6 / 6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52A2E"/>
                          </a:solidFill>
                          <a:latin typeface="Aptos"/>
                        </a:rPr>
                        <a:t>outcome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3 / 3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52A2E"/>
                          </a:solidFill>
                          <a:latin typeface="Aptos"/>
                        </a:rPr>
                        <a:t>stall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3 / 3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52A2E"/>
                          </a:solidFill>
                          <a:latin typeface="Aptos"/>
                        </a:rPr>
                        <a:t>address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3 / 3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555">
                <a:tc>
                  <a:txBody>
                    <a:bodyPr/>
                    <a:lstStyle/>
                    <a:p>
                      <a:pPr algn="l"/>
                      <a:r>
                        <a:rPr sz="840" b="1">
                          <a:solidFill>
                            <a:srgbClr val="252A2E"/>
                          </a:solidFill>
                          <a:latin typeface="Aptos"/>
                        </a:rPr>
                        <a:t>beats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3 / 3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40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9070848" y="2487168"/>
            <a:ext cx="1828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1">
                <a:solidFill>
                  <a:srgbClr val="006B73"/>
                </a:solidFill>
                <a:latin typeface="Aptos Display"/>
              </a:rPr>
              <a:t>CROSS COVERAGE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9070848" y="2706624"/>
          <a:ext cx="2633472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FFFFFF"/>
                          </a:solidFill>
                          <a:latin typeface="Aptos Display"/>
                        </a:rPr>
                        <a:t>CROSS</a:t>
                      </a:r>
                    </a:p>
                  </a:txBody>
                  <a:tcPr marL="41148" marR="41148" marT="10972" marB="10972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 Display"/>
                        </a:rPr>
                        <a:t>BINS</a:t>
                      </a:r>
                    </a:p>
                  </a:txBody>
                  <a:tcPr marL="41148" marR="41148" marT="10972" marB="10972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1">
                          <a:solidFill>
                            <a:srgbClr val="FFFFFF"/>
                          </a:solidFill>
                          <a:latin typeface="Aptos Display"/>
                        </a:rPr>
                        <a:t>COV.</a:t>
                      </a:r>
                    </a:p>
                  </a:txBody>
                  <a:tcPr marL="41148" marR="41148" marT="10972" marB="10972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252A2E"/>
                          </a:solidFill>
                          <a:latin typeface="Aptos"/>
                        </a:rPr>
                        <a:t>type × length × outcome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A2E"/>
                          </a:solidFill>
                          <a:latin typeface="Aptos"/>
                        </a:rPr>
                        <a:t>36 / 36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252A2E"/>
                          </a:solidFill>
                          <a:latin typeface="Aptos"/>
                        </a:rPr>
                        <a:t>type × stall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A2E"/>
                          </a:solidFill>
                          <a:latin typeface="Aptos"/>
                        </a:rPr>
                        <a:t>10 / 10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819" b="1">
                          <a:solidFill>
                            <a:srgbClr val="252A2E"/>
                          </a:solidFill>
                          <a:latin typeface="Aptos"/>
                        </a:rPr>
                        <a:t>type × beats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A2E"/>
                          </a:solidFill>
                          <a:latin typeface="Aptos"/>
                        </a:rPr>
                        <a:t>9 / 9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19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6327648" y="4315968"/>
            <a:ext cx="201168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1">
                <a:solidFill>
                  <a:srgbClr val="006B73"/>
                </a:solidFill>
                <a:latin typeface="Aptos Display"/>
              </a:rPr>
              <a:t>SCENARIO EVIDENCE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327648" y="4535424"/>
          <a:ext cx="5376672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FFFFFF"/>
                          </a:solidFill>
                          <a:latin typeface="Aptos Display"/>
                        </a:rPr>
                        <a:t>DIMENSION</a:t>
                      </a:r>
                    </a:p>
                  </a:txBody>
                  <a:tcPr marL="41148" marR="41148" marT="10972" marB="10972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1">
                          <a:solidFill>
                            <a:srgbClr val="FFFFFF"/>
                          </a:solidFill>
                          <a:latin typeface="Aptos Display"/>
                        </a:rPr>
                        <a:t>OBSERVED HITS</a:t>
                      </a:r>
                    </a:p>
                  </a:txBody>
                  <a:tcPr marL="41148" marR="41148" marT="10972" marB="10972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252A2E"/>
                          </a:solidFill>
                          <a:latin typeface="Aptos"/>
                        </a:rPr>
                        <a:t>Protocol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A2E"/>
                          </a:solidFill>
                          <a:latin typeface="Aptos"/>
                        </a:rPr>
                        <a:t>SPI 39 · QSPI 36 · OSPI 41 · invalid 6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252A2E"/>
                          </a:solidFill>
                          <a:latin typeface="Aptos"/>
                        </a:rPr>
                        <a:t>Outcome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A2E"/>
                          </a:solidFill>
                          <a:latin typeface="Aptos"/>
                        </a:rPr>
                        <a:t>completed 78 · aborted 32 · rejected 12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252A2E"/>
                          </a:solidFill>
                          <a:latin typeface="Aptos"/>
                        </a:rPr>
                        <a:t>Backpressure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A2E"/>
                          </a:solidFill>
                          <a:latin typeface="Aptos"/>
                        </a:rPr>
                        <a:t>no stall 20 · medium 41 · heavy 61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252A2E"/>
                          </a:solidFill>
                          <a:latin typeface="Aptos"/>
                        </a:rPr>
                        <a:t>Length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A2E"/>
                          </a:solidFill>
                          <a:latin typeface="Aptos"/>
                        </a:rPr>
                        <a:t>zero 4 · non-byte 4 · tiny 23 · short 24 · medium 51 · long 16</a:t>
                      </a:r>
                    </a:p>
                  </a:txBody>
                  <a:tcPr marL="41148" marR="41148" marT="10972" marB="10972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60" b="1">
                          <a:solidFill>
                            <a:srgbClr val="252A2E"/>
                          </a:solidFill>
                          <a:latin typeface="Aptos"/>
                        </a:rPr>
                        <a:t>AXIS beats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0" b="0">
                          <a:solidFill>
                            <a:srgbClr val="252A2E"/>
                          </a:solidFill>
                          <a:latin typeface="Aptos"/>
                        </a:rPr>
                        <a:t>one 57 · two 25 · many 40</a:t>
                      </a:r>
                    </a:p>
                  </a:txBody>
                  <a:tcPr marL="41148" marR="41148" marT="10972" marB="10972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6327648" y="6016752"/>
            <a:ext cx="5376672" cy="265176"/>
          </a:xfrm>
          <a:prstGeom prst="rect">
            <a:avLst/>
          </a:prstGeom>
          <a:solidFill>
            <a:srgbClr val="D9EFF1"/>
          </a:solidFill>
          <a:ln w="10160">
            <a:solidFill>
              <a:srgbClr val="18A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6053328"/>
            <a:ext cx="5138928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80" b="1">
                <a:solidFill>
                  <a:srgbClr val="006B73"/>
                </a:solidFill>
                <a:latin typeface="Aptos"/>
              </a:rPr>
              <a:t>VERIFICATION READOUT  All 77 functional bins covered; protocol, error, abort, and backpressure spaces are closed.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" y="6510528"/>
            <a:ext cx="987552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0">
                <a:solidFill>
                  <a:srgbClr val="686C70"/>
                </a:solidFill>
                <a:latin typeface="Aptos"/>
              </a:rPr>
              <a:t>Source: Vivado XSim XCRG report · tb_memory_manager::transaction_cg · functional coverage only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20272" y="6473952"/>
            <a:ext cx="27432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IN" sz="900" b="1">
                <a:solidFill>
                  <a:srgbClr val="006B73"/>
                </a:solidFill>
                <a:latin typeface="Aptos Display"/>
              </a:rPr>
              <a:t>06</a:t>
            </a:r>
            <a:endParaRPr sz="900" b="1">
              <a:solidFill>
                <a:srgbClr val="006B73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5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5488" y="228600"/>
            <a:ext cx="292608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1100" b="1">
                <a:solidFill>
                  <a:srgbClr val="006B73"/>
                </a:solidFill>
                <a:latin typeface="Aptos Display"/>
              </a:rPr>
              <a:t>07</a:t>
            </a:r>
            <a:r>
              <a:rPr sz="1100" b="1">
                <a:solidFill>
                  <a:srgbClr val="006B73"/>
                </a:solidFill>
                <a:latin typeface="Aptos Display"/>
              </a:rPr>
              <a:t> / COMPONENT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5488" y="580352"/>
            <a:ext cx="11201400" cy="37548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/>
            <a:r>
              <a:rPr lang="en-IN" sz="2200" b="1">
                <a:solidFill>
                  <a:srgbClr val="252A2E"/>
                </a:solidFill>
                <a:latin typeface="Aptos Display"/>
              </a:rPr>
              <a:t>JTAG Controller </a:t>
            </a:r>
            <a:r>
              <a:rPr sz="2200" b="1">
                <a:solidFill>
                  <a:srgbClr val="252A2E"/>
                </a:solidFill>
                <a:latin typeface="Aptos Display"/>
              </a:rPr>
              <a:t>Architecture: </a:t>
            </a:r>
            <a:r>
              <a:rPr lang="en-IN" sz="2200" b="1">
                <a:solidFill>
                  <a:srgbClr val="252A2E"/>
                </a:solidFill>
                <a:latin typeface="Aptos Display"/>
              </a:rPr>
              <a:t>Scan Engine, TAP Sequencer</a:t>
            </a:r>
            <a:r>
              <a:rPr sz="2200" b="1">
                <a:solidFill>
                  <a:srgbClr val="252A2E"/>
                </a:solidFill>
                <a:latin typeface="Aptos Display"/>
              </a:rPr>
              <a:t> &amp; Functional Verification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115568"/>
            <a:ext cx="11228832" cy="16459"/>
          </a:xfrm>
          <a:prstGeom prst="rect">
            <a:avLst/>
          </a:prstGeom>
          <a:solidFill>
            <a:srgbClr val="C9C5BB"/>
          </a:solidFill>
          <a:ln w="10160">
            <a:solidFill>
              <a:srgbClr val="C9C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80760" y="1280160"/>
            <a:ext cx="16459" cy="5120640"/>
          </a:xfrm>
          <a:prstGeom prst="rect">
            <a:avLst/>
          </a:prstGeom>
          <a:solidFill>
            <a:srgbClr val="C9C5BB"/>
          </a:solidFill>
          <a:ln w="10160">
            <a:solidFill>
              <a:srgbClr val="C9C5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298448"/>
            <a:ext cx="237744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006B73"/>
                </a:solidFill>
                <a:latin typeface="Aptos Display"/>
              </a:rPr>
              <a:t>DUT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280160"/>
            <a:ext cx="150876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IN" sz="1100" b="1">
                <a:solidFill>
                  <a:srgbClr val="686C70"/>
                </a:solidFill>
                <a:latin typeface="Courier New"/>
              </a:rPr>
              <a:t>jtag</a:t>
            </a:r>
            <a:r>
              <a:rPr sz="1100" b="1">
                <a:solidFill>
                  <a:srgbClr val="686C70"/>
                </a:solidFill>
                <a:latin typeface="Courier New"/>
              </a:rPr>
              <a:t>_</a:t>
            </a:r>
            <a:r>
              <a:rPr lang="en-IN" sz="1100" b="1">
                <a:solidFill>
                  <a:srgbClr val="686C70"/>
                </a:solidFill>
                <a:latin typeface="Courier New"/>
              </a:rPr>
              <a:t>controller</a:t>
            </a:r>
            <a:endParaRPr sz="1100" b="1">
              <a:solidFill>
                <a:srgbClr val="686C70"/>
              </a:solidFill>
              <a:latin typeface="Courier New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5488" y="1545336"/>
            <a:ext cx="5376672" cy="3477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10" b="0">
                <a:solidFill>
                  <a:srgbClr val="252A2E"/>
                </a:solidFill>
                <a:latin typeface="Aptos"/>
              </a:rPr>
              <a:t>Top-level </a:t>
            </a:r>
            <a:r>
              <a:rPr lang="en-IN" sz="1010" b="0">
                <a:solidFill>
                  <a:srgbClr val="252A2E"/>
                </a:solidFill>
                <a:latin typeface="Aptos"/>
              </a:rPr>
              <a:t>JTAG transaction </a:t>
            </a:r>
            <a:r>
              <a:rPr sz="1010" b="0">
                <a:solidFill>
                  <a:srgbClr val="252A2E"/>
                </a:solidFill>
                <a:latin typeface="Aptos"/>
              </a:rPr>
              <a:t>controller: </a:t>
            </a:r>
            <a:r>
              <a:rPr lang="en-IN" sz="1010" b="0">
                <a:solidFill>
                  <a:srgbClr val="252A2E"/>
                </a:solidFill>
                <a:latin typeface="Aptos"/>
              </a:rPr>
              <a:t>command decode, TAP-state sequencing</a:t>
            </a:r>
            <a:r>
              <a:rPr sz="1010" b="0">
                <a:solidFill>
                  <a:srgbClr val="252A2E"/>
                </a:solidFill>
                <a:latin typeface="Aptos"/>
              </a:rPr>
              <a:t>, </a:t>
            </a:r>
            <a:r>
              <a:rPr lang="en-IN" sz="1010" b="0">
                <a:solidFill>
                  <a:srgbClr val="252A2E"/>
                </a:solidFill>
                <a:latin typeface="Aptos"/>
              </a:rPr>
              <a:t>IR</a:t>
            </a:r>
            <a:r>
              <a:rPr sz="1010" b="0">
                <a:solidFill>
                  <a:srgbClr val="252A2E"/>
                </a:solidFill>
                <a:latin typeface="Aptos"/>
              </a:rPr>
              <a:t>/</a:t>
            </a:r>
            <a:r>
              <a:rPr lang="en-US" sz="1010" b="0">
                <a:solidFill>
                  <a:srgbClr val="252A2E"/>
                </a:solidFill>
                <a:latin typeface="Aptos"/>
              </a:rPr>
              <a:t>DR scan execution, clock generation</a:t>
            </a:r>
            <a:r>
              <a:rPr sz="1010" b="0">
                <a:solidFill>
                  <a:srgbClr val="252A2E"/>
                </a:solidFill>
                <a:latin typeface="Aptos"/>
              </a:rPr>
              <a:t>, and </a:t>
            </a:r>
            <a:r>
              <a:rPr lang="en-IN" sz="1010" b="0">
                <a:solidFill>
                  <a:srgbClr val="252A2E"/>
                </a:solidFill>
                <a:latin typeface="Aptos"/>
              </a:rPr>
              <a:t>IDCODE/error checking</a:t>
            </a:r>
            <a:r>
              <a:rPr sz="1010" b="0">
                <a:solidFill>
                  <a:srgbClr val="252A2E"/>
                </a:solidFill>
                <a:latin typeface="Apto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920240"/>
            <a:ext cx="96012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50" b="1">
                <a:solidFill>
                  <a:srgbClr val="006B73"/>
                </a:solidFill>
                <a:latin typeface="Aptos Display"/>
              </a:rPr>
              <a:t>System I/O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97188"/>
            <a:ext cx="4434840" cy="28905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819" b="0" dirty="0">
                <a:solidFill>
                  <a:srgbClr val="686C70"/>
                </a:solidFill>
                <a:latin typeface="Courier New"/>
              </a:rPr>
              <a:t>clk 100 MHz · </a:t>
            </a:r>
            <a:r>
              <a:rPr sz="819" b="0" dirty="0" err="1">
                <a:solidFill>
                  <a:srgbClr val="686C70"/>
                </a:solidFill>
                <a:latin typeface="Courier New"/>
              </a:rPr>
              <a:t>rst_n</a:t>
            </a:r>
            <a:r>
              <a:rPr sz="819" b="0" dirty="0">
                <a:solidFill>
                  <a:srgbClr val="686C70"/>
                </a:solidFill>
                <a:latin typeface="Courier New"/>
              </a:rPr>
              <a:t> · </a:t>
            </a:r>
            <a:r>
              <a:rPr lang="en-IN" sz="819" b="0" dirty="0">
                <a:solidFill>
                  <a:srgbClr val="686C70"/>
                </a:solidFill>
                <a:latin typeface="Courier New"/>
              </a:rPr>
              <a:t>transaction kind </a:t>
            </a:r>
            <a:r>
              <a:rPr sz="819" b="0" dirty="0">
                <a:solidFill>
                  <a:srgbClr val="686C70"/>
                </a:solidFill>
                <a:latin typeface="Courier New"/>
              </a:rPr>
              <a:t>· </a:t>
            </a:r>
            <a:r>
              <a:rPr lang="en-IN" sz="819" b="0" dirty="0">
                <a:solidFill>
                  <a:srgbClr val="686C70"/>
                </a:solidFill>
                <a:latin typeface="Courier New"/>
              </a:rPr>
              <a:t>scan mode </a:t>
            </a:r>
            <a:r>
              <a:rPr sz="819" b="0" dirty="0">
                <a:solidFill>
                  <a:srgbClr val="686C70"/>
                </a:solidFill>
                <a:latin typeface="Courier New"/>
              </a:rPr>
              <a:t>· </a:t>
            </a:r>
            <a:r>
              <a:rPr lang="en-IN" sz="819" b="0" dirty="0">
                <a:solidFill>
                  <a:srgbClr val="686C70"/>
                </a:solidFill>
                <a:latin typeface="Courier New"/>
              </a:rPr>
              <a:t>bit </a:t>
            </a:r>
            <a:r>
              <a:rPr sz="819" b="0" dirty="0">
                <a:solidFill>
                  <a:srgbClr val="686C70"/>
                </a:solidFill>
                <a:latin typeface="Courier New"/>
              </a:rPr>
              <a:t>length · </a:t>
            </a:r>
            <a:r>
              <a:rPr lang="en-US" sz="819" b="0" dirty="0">
                <a:solidFill>
                  <a:srgbClr val="686C70"/>
                </a:solidFill>
                <a:latin typeface="Courier New"/>
              </a:rPr>
              <a:t>frequency · payload valid/ready · abort</a:t>
            </a:r>
            <a:endParaRPr sz="819" b="0" dirty="0">
              <a:solidFill>
                <a:srgbClr val="686C70"/>
              </a:solidFill>
              <a:latin typeface="Courier New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55548" y="2176272"/>
            <a:ext cx="4012387" cy="2395728"/>
          </a:xfrm>
          <a:prstGeom prst="rect">
            <a:avLst/>
          </a:prstGeom>
          <a:solidFill>
            <a:srgbClr val="152329"/>
          </a:solidFill>
          <a:ln w="10160"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44752" y="2267334"/>
            <a:ext cx="3732581" cy="231063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15" b="0">
                <a:solidFill>
                  <a:srgbClr val="E7F4F3"/>
                </a:solidFill>
                <a:latin typeface="Courier New"/>
              </a:rPr>
              <a:t>┌──────────────────────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JTAG</a:t>
            </a:r>
            <a:r>
              <a:rPr sz="715" b="0">
                <a:solidFill>
                  <a:srgbClr val="E7F4F3"/>
                </a:solidFill>
                <a:latin typeface="Courier New"/>
              </a:rPr>
              <a:t>_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CONTROLLER ─────────────────────┐
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HOST</a:t>
            </a:r>
            <a:r>
              <a:rPr sz="715" b="0">
                <a:solidFill>
                  <a:srgbClr val="E7F4F3"/>
                </a:solidFill>
                <a:latin typeface="Courier New"/>
              </a:rPr>
              <a:t>: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transaction kind </a:t>
            </a:r>
            <a:r>
              <a:rPr sz="715" b="0">
                <a:solidFill>
                  <a:srgbClr val="E7F4F3"/>
                </a:solidFill>
                <a:latin typeface="Courier New"/>
              </a:rPr>
              <a:t>·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scan mode </a:t>
            </a:r>
            <a:r>
              <a:rPr sz="715" b="0">
                <a:solidFill>
                  <a:srgbClr val="E7F4F3"/>
                </a:solidFill>
                <a:latin typeface="Courier New"/>
              </a:rPr>
              <a:t>·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bit </a:t>
            </a:r>
            <a:r>
              <a:rPr sz="715" b="0">
                <a:solidFill>
                  <a:srgbClr val="E7F4F3"/>
                </a:solidFill>
                <a:latin typeface="Courier New"/>
              </a:rPr>
              <a:t>length ·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frequency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
│                    │                                       │
│          ┌─────────▼──────────┐                            │
│          │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DECODE + </a:t>
            </a:r>
            <a:r>
              <a:rPr sz="715" b="0">
                <a:solidFill>
                  <a:srgbClr val="E7F4F3"/>
                </a:solidFill>
                <a:latin typeface="Courier New"/>
              </a:rPr>
              <a:t>VALIDATE  │ </a:t>
            </a:r>
            <a:r>
              <a:rPr lang="en-US" sz="715" b="0">
                <a:solidFill>
                  <a:srgbClr val="E7F4F3"/>
                </a:solidFill>
                <a:latin typeface="Courier New"/>
              </a:rPr>
              <a:t>bad freq/length/ID/abort</a:t>
            </a:r>
            <a:r>
              <a:rPr sz="715" b="0">
                <a:solidFill>
                  <a:srgbClr val="E7F4F3"/>
                </a:solidFill>
                <a:latin typeface="Courier New"/>
              </a:rPr>
              <a:t>   │
│     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└─────────┬──────────┘                 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
│         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                     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
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┌─────────────▼─────────────┐</a:t>
            </a:r>
            <a:r>
              <a:rPr sz="715" b="0">
                <a:solidFill>
                  <a:srgbClr val="E7F4F3"/>
                </a:solidFill>
                <a:latin typeface="Courier New"/>
              </a:rPr>
              <a:t>                         │
│      │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COMMAND / SCAN SCHEDULER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        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
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    └──────┬───────────┬────────┘              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
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            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    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
│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┌──────▼─────┐ ┌───▼──────────┐           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
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IR SCAN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│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DR / IDCODE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            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
│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LOAD + SHIFT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│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CAPTURE/VERIFY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         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
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└──────┬─────┘ └───┬──────────┘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            │
│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       └──────┬────┘                       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
│ 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   ┌─────────▼──────────┐                 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
│          │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 TAP FSM + TCK DIV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                            │
│     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└─────────┬──────────┘            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     │
│     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JTAG PHY: TCK</a:t>
            </a:r>
            <a:r>
              <a:rPr sz="715" b="0">
                <a:solidFill>
                  <a:srgbClr val="E7F4F3"/>
                </a:solidFill>
                <a:latin typeface="Courier New"/>
              </a:rPr>
              <a:t> ·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TMS </a:t>
            </a:r>
            <a:r>
              <a:rPr sz="715" b="0">
                <a:solidFill>
                  <a:srgbClr val="E7F4F3"/>
                </a:solidFill>
                <a:latin typeface="Courier New"/>
              </a:rPr>
              <a:t>·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TDI → DUT </a:t>
            </a:r>
            <a:r>
              <a:rPr sz="715" b="0">
                <a:solidFill>
                  <a:srgbClr val="E7F4F3"/>
                </a:solidFill>
                <a:latin typeface="Courier New"/>
              </a:rPr>
              <a:t>· </a:t>
            </a:r>
            <a:r>
              <a:rPr lang="en-IN" sz="715" b="0">
                <a:solidFill>
                  <a:srgbClr val="E7F4F3"/>
                </a:solidFill>
                <a:latin typeface="Courier New"/>
              </a:rPr>
              <a:t>TDO ← DUT           </a:t>
            </a:r>
            <a:r>
              <a:rPr sz="715" b="0">
                <a:solidFill>
                  <a:srgbClr val="E7F4F3"/>
                </a:solidFill>
                <a:latin typeface="Courier New"/>
              </a:rPr>
              <a:t>│
└────────────────────────────────────────────────────────────┘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672584"/>
            <a:ext cx="914400" cy="3293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950" b="1">
                <a:solidFill>
                  <a:srgbClr val="006B73"/>
                </a:solidFill>
                <a:latin typeface="Aptos Display"/>
              </a:rPr>
              <a:t>TAP / SCAN FLOW</a:t>
            </a:r>
            <a:endParaRPr sz="950" b="1">
              <a:solidFill>
                <a:srgbClr val="006B73"/>
              </a:solidFill>
              <a:latin typeface="Aptos Display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53312" y="4645152"/>
            <a:ext cx="4498848" cy="274320"/>
          </a:xfrm>
          <a:prstGeom prst="rect">
            <a:avLst/>
          </a:prstGeom>
          <a:solidFill>
            <a:srgbClr val="D9EFF1"/>
          </a:solidFill>
          <a:ln w="10160">
            <a:solidFill>
              <a:srgbClr val="18A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44752" y="4703193"/>
            <a:ext cx="4315968" cy="13080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006B73"/>
                </a:solidFill>
                <a:latin typeface="Courier New"/>
              </a:rPr>
              <a:t>IDLE → </a:t>
            </a:r>
            <a:r>
              <a:rPr lang="en-IN" sz="850" b="1">
                <a:solidFill>
                  <a:srgbClr val="006B73"/>
                </a:solidFill>
                <a:latin typeface="Courier New"/>
              </a:rPr>
              <a:t>SELECT → CAPTURE </a:t>
            </a:r>
            <a:r>
              <a:rPr sz="850" b="1">
                <a:solidFill>
                  <a:srgbClr val="006B73"/>
                </a:solidFill>
                <a:latin typeface="Courier New"/>
              </a:rPr>
              <a:t>→ </a:t>
            </a:r>
            <a:r>
              <a:rPr lang="en-IN" sz="850" b="1">
                <a:solidFill>
                  <a:srgbClr val="006B73"/>
                </a:solidFill>
                <a:latin typeface="Courier New"/>
              </a:rPr>
              <a:t>SHIFT </a:t>
            </a:r>
            <a:r>
              <a:rPr sz="850" b="1">
                <a:solidFill>
                  <a:srgbClr val="006B73"/>
                </a:solidFill>
                <a:latin typeface="Courier New"/>
              </a:rPr>
              <a:t>→ </a:t>
            </a:r>
            <a:r>
              <a:rPr lang="en-IN" sz="850" b="1">
                <a:solidFill>
                  <a:srgbClr val="006B73"/>
                </a:solidFill>
                <a:latin typeface="Courier New"/>
              </a:rPr>
              <a:t>EXIT </a:t>
            </a:r>
            <a:r>
              <a:rPr sz="850" b="1">
                <a:solidFill>
                  <a:srgbClr val="006B73"/>
                </a:solidFill>
                <a:latin typeface="Courier New"/>
              </a:rPr>
              <a:t>→ </a:t>
            </a:r>
            <a:r>
              <a:rPr lang="en-IN" sz="850" b="1">
                <a:solidFill>
                  <a:srgbClr val="006B73"/>
                </a:solidFill>
                <a:latin typeface="Courier New"/>
              </a:rPr>
              <a:t>UPDATE </a:t>
            </a:r>
            <a:r>
              <a:rPr sz="850" b="1">
                <a:solidFill>
                  <a:srgbClr val="006B73"/>
                </a:solidFill>
                <a:latin typeface="Courier New"/>
              </a:rPr>
              <a:t>→ </a:t>
            </a:r>
            <a:r>
              <a:rPr lang="en-IN" sz="850" b="1">
                <a:solidFill>
                  <a:srgbClr val="006B73"/>
                </a:solidFill>
                <a:latin typeface="Courier New"/>
              </a:rPr>
              <a:t>COMPLETE</a:t>
            </a:r>
            <a:endParaRPr sz="850" b="1">
              <a:solidFill>
                <a:srgbClr val="006B73"/>
              </a:solidFill>
              <a:latin typeface="Courier New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75488" y="5010912"/>
            <a:ext cx="6858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IN" sz="950" b="1">
                <a:solidFill>
                  <a:srgbClr val="006B73"/>
                </a:solidFill>
                <a:latin typeface="Aptos Display"/>
              </a:rPr>
              <a:t>JTAG</a:t>
            </a:r>
            <a:r>
              <a:rPr sz="950" b="1">
                <a:solidFill>
                  <a:srgbClr val="006B73"/>
                </a:solidFill>
                <a:latin typeface="Aptos Display"/>
              </a:rPr>
              <a:t> pins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5010912"/>
            <a:ext cx="4681728" cy="28905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lang="en-US" sz="819" b="0">
                <a:solidFill>
                  <a:srgbClr val="686C70"/>
                </a:solidFill>
                <a:latin typeface="Courier New"/>
              </a:rPr>
              <a:t>TCK: programmable frequency  ·  TMS: TAP state control  </a:t>
            </a:r>
            <a:r>
              <a:rPr sz="819" b="0">
                <a:solidFill>
                  <a:srgbClr val="686C70"/>
                </a:solidFill>
                <a:latin typeface="Courier New"/>
              </a:rPr>
              <a:t>·  </a:t>
            </a:r>
            <a:r>
              <a:rPr lang="en-IN" sz="819" b="0">
                <a:solidFill>
                  <a:srgbClr val="686C70"/>
                </a:solidFill>
                <a:latin typeface="Courier New"/>
              </a:rPr>
              <a:t>TDI: serial stimulus  </a:t>
            </a:r>
            <a:r>
              <a:rPr sz="819" b="0">
                <a:solidFill>
                  <a:srgbClr val="686C70"/>
                </a:solidFill>
                <a:latin typeface="Courier New"/>
              </a:rPr>
              <a:t>·  </a:t>
            </a:r>
            <a:r>
              <a:rPr lang="en-IN" sz="819" b="0">
                <a:solidFill>
                  <a:srgbClr val="686C70"/>
                </a:solidFill>
                <a:latin typeface="Courier New"/>
              </a:rPr>
              <a:t>TDO: captured response</a:t>
            </a:r>
            <a:endParaRPr sz="819" b="0">
              <a:solidFill>
                <a:srgbClr val="686C70"/>
              </a:solidFill>
              <a:latin typeface="Courier New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75488" y="5321808"/>
            <a:ext cx="2743200" cy="1920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b="1">
                <a:solidFill>
                  <a:srgbClr val="006B73"/>
                </a:solidFill>
                <a:latin typeface="Aptos Display"/>
              </a:rPr>
              <a:t>ARCHITECTURAL HIGHLIGHTS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5550408"/>
            <a:ext cx="5376672" cy="720069"/>
          </a:xfrm>
          <a:prstGeom prst="rect">
            <a:avLst/>
          </a:prstGeom>
          <a:noFill/>
        </p:spPr>
        <p:txBody>
          <a:bodyPr wrap="square" lIns="27432" tIns="0" rIns="0" bIns="0">
            <a:spAutoFit/>
          </a:bodyPr>
          <a:lstStyle/>
          <a:p>
            <a:pPr>
              <a:spcAft>
                <a:spcPts val="100"/>
              </a:spcAft>
              <a:defRPr sz="869">
                <a:solidFill>
                  <a:srgbClr val="252A2E"/>
                </a:solidFill>
                <a:latin typeface="Aptos"/>
              </a:defRPr>
            </a:pPr>
            <a:r>
              <a:t>• </a:t>
            </a:r>
            <a:r>
              <a:rPr lang="en-US"/>
              <a:t>Unified sequencer executes CHECK_ID</a:t>
            </a:r>
            <a:r>
              <a:t>, </a:t>
            </a:r>
            <a:r>
              <a:rPr lang="en-IN"/>
              <a:t>LOAD_IR</a:t>
            </a:r>
            <a:r>
              <a:t>, </a:t>
            </a:r>
            <a:r>
              <a:rPr lang="en-IN"/>
              <a:t>STREAM_DATA</a:t>
            </a:r>
            <a:r>
              <a:t>, and </a:t>
            </a:r>
            <a:r>
              <a:rPr lang="en-IN"/>
              <a:t>FLASH</a:t>
            </a:r>
            <a:r>
              <a:t>_</a:t>
            </a:r>
            <a:r>
              <a:rPr lang="en-IN"/>
              <a:t>ABORT transactions</a:t>
            </a:r>
            <a:r>
              <a:t>.</a:t>
            </a:r>
            <a:r>
              <a:rPr lang="en-IN"/>
              <a:t>
</a:t>
            </a:r>
            <a:r>
              <a:t>• </a:t>
            </a:r>
            <a:r>
              <a:rPr lang="en-IN"/>
              <a:t>Valid/ready handshaking tolerates </a:t>
            </a:r>
            <a:r>
              <a:t>zero, </a:t>
            </a:r>
            <a:r>
              <a:rPr lang="en-US"/>
              <a:t>short, and long payload gaps without losing scan position.
• Fault detection traps invalid frequency/length, IDCODE mismatch</a:t>
            </a:r>
            <a:r>
              <a:t>, and </a:t>
            </a:r>
            <a:r>
              <a:rPr lang="en-IN"/>
              <a:t>hardware abort conditions</a:t>
            </a:r>
            <a:r>
              <a:t>.</a:t>
            </a:r>
            <a:endParaRPr lang="en-IN"/>
          </a:p>
          <a:p>
            <a:pPr>
              <a:spcAft>
                <a:spcPts val="100"/>
              </a:spcAft>
              <a:defRPr sz="869">
                <a:solidFill>
                  <a:srgbClr val="252A2E"/>
                </a:solidFill>
                <a:latin typeface="Aptos"/>
              </a:defRPr>
            </a:pPr>
            <a:endParaRPr lang="en-IN"/>
          </a:p>
          <a:p>
            <a:pPr>
              <a:spcAft>
                <a:spcPts val="100"/>
              </a:spcAft>
              <a:defRPr sz="869">
                <a:solidFill>
                  <a:srgbClr val="252A2E"/>
                </a:solidFill>
                <a:latin typeface="Aptos"/>
              </a:defRPr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7648" y="1298448"/>
            <a:ext cx="27432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100" b="1">
                <a:solidFill>
                  <a:srgbClr val="006B73"/>
                </a:solidFill>
                <a:latin typeface="Aptos Display"/>
              </a:rPr>
              <a:t>XCRG FUNCTIONAL COVERAGE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1289304"/>
            <a:ext cx="30175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sz="860" b="1">
                <a:solidFill>
                  <a:srgbClr val="686C70"/>
                </a:solidFill>
                <a:latin typeface="Aptos Display"/>
              </a:rPr>
              <a:t>Source group: jtag_tb_pkg::jtag_coverage::cg_jtag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7648" y="1572768"/>
            <a:ext cx="1225296" cy="640080"/>
          </a:xfrm>
          <a:prstGeom prst="rect">
            <a:avLst/>
          </a:prstGeom>
          <a:solidFill>
            <a:srgbClr val="006B73"/>
          </a:solidFill>
          <a:ln w="10160"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162763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 Display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1956816"/>
            <a:ext cx="1152144" cy="118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FFFFFF"/>
                </a:solidFill>
                <a:latin typeface="Aptos Display"/>
              </a:rPr>
              <a:t>GROUP SCORE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90104" y="1572768"/>
            <a:ext cx="1225296" cy="640080"/>
          </a:xfrm>
          <a:prstGeom prst="rect">
            <a:avLst/>
          </a:prstGeom>
          <a:solidFill>
            <a:srgbClr val="D9EFF1"/>
          </a:solidFill>
          <a:ln w="10160"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35824" y="162763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06B73"/>
                </a:solidFill>
                <a:latin typeface="Aptos Display"/>
              </a:rPr>
              <a:t>45 / 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1956816"/>
            <a:ext cx="1152144" cy="118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006B73"/>
                </a:solidFill>
                <a:latin typeface="Aptos Display"/>
              </a:rPr>
              <a:t>BINS COVERED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1572768"/>
            <a:ext cx="1225296" cy="640080"/>
          </a:xfrm>
          <a:prstGeom prst="rect">
            <a:avLst/>
          </a:prstGeom>
          <a:solidFill>
            <a:srgbClr val="D9EFF1"/>
          </a:solidFill>
          <a:ln w="10160"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98280" y="162763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06B73"/>
                </a:solidFill>
                <a:latin typeface="Aptos Display"/>
              </a:rPr>
              <a:t>27 / 27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89136" y="1956816"/>
            <a:ext cx="1152144" cy="118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006B73"/>
                </a:solidFill>
                <a:latin typeface="Aptos Display"/>
              </a:rPr>
              <a:t>VARIABLE BINS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15016" y="1572768"/>
            <a:ext cx="1225296" cy="640080"/>
          </a:xfrm>
          <a:prstGeom prst="rect">
            <a:avLst/>
          </a:prstGeom>
          <a:solidFill>
            <a:srgbClr val="D9EFF1"/>
          </a:solidFill>
          <a:ln w="10160"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460736" y="1627632"/>
            <a:ext cx="113385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>
                <a:solidFill>
                  <a:srgbClr val="006B73"/>
                </a:solidFill>
                <a:latin typeface="Aptos Display"/>
              </a:rPr>
              <a:t>18 / 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51592" y="1956816"/>
            <a:ext cx="1152144" cy="1188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>
                <a:solidFill>
                  <a:srgbClr val="006B73"/>
                </a:solidFill>
                <a:latin typeface="Aptos Display"/>
              </a:rPr>
              <a:t>CROSS BINS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7648" y="2350008"/>
            <a:ext cx="228600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1">
                <a:solidFill>
                  <a:srgbClr val="006B73"/>
                </a:solidFill>
                <a:latin typeface="Aptos Display"/>
              </a:rPr>
              <a:t>COVERPOINT BREAKDOWN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327648" y="2578608"/>
          <a:ext cx="5376672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606"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FFFFFF"/>
                          </a:solidFill>
                          <a:latin typeface="Aptos Display"/>
                        </a:rPr>
                        <a:t>COVERPOINT</a:t>
                      </a:r>
                    </a:p>
                  </a:txBody>
                  <a:tcPr marL="32004" marR="32004" marT="7315" marB="7315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ptos Display"/>
                        </a:rPr>
                        <a:t>COV./EXP.</a:t>
                      </a:r>
                    </a:p>
                  </a:txBody>
                  <a:tcPr marL="32004" marR="32004" marT="7315" marB="7315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ptos Display"/>
                        </a:rPr>
                        <a:t>%</a:t>
                      </a:r>
                    </a:p>
                  </a:txBody>
                  <a:tcPr marL="32004" marR="32004" marT="7315" marB="7315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FFFFFF"/>
                          </a:solidFill>
                          <a:latin typeface="Aptos Display"/>
                        </a:rPr>
                        <a:t>REPORT EVIDENCE</a:t>
                      </a:r>
                    </a:p>
                  </a:txBody>
                  <a:tcPr marL="32004" marR="32004" marT="7315" marB="7315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606"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252A2E"/>
                          </a:solidFill>
                          <a:latin typeface="Aptos"/>
                        </a:rPr>
                        <a:t>cp_kind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4 / 4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Check ID 11 · Load IR 17 · Stream 16 · Abort 1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606"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252A2E"/>
                          </a:solidFill>
                          <a:latin typeface="Aptos"/>
                        </a:rPr>
                        <a:t>cp_scan_mode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2 / 2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IR 17 · DR 28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606"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252A2E"/>
                          </a:solidFill>
                          <a:latin typeface="Aptos"/>
                        </a:rPr>
                        <a:t>cp_bit_length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6 / 6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1b 2 · byte 4 · 32b 13 · unaligned 5 · med 7 · large 2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606"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252A2E"/>
                          </a:solidFill>
                          <a:latin typeface="Aptos"/>
                        </a:rPr>
                        <a:t>cp_frequency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4 / 4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low 10 · med 18 · high 7 · Nyquist 9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606"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252A2E"/>
                          </a:solidFill>
                          <a:latin typeface="Aptos"/>
                        </a:rPr>
                        <a:t>cp_handshake_stalls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3 / 3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none 15 · short 12 · long 18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606"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252A2E"/>
                          </a:solidFill>
                          <a:latin typeface="Aptos"/>
                        </a:rPr>
                        <a:t>cp_idcode_verify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3 / 3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bypass 32 · capture 1 · full 10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606">
                <a:tc>
                  <a:txBody>
                    <a:bodyPr/>
                    <a:lstStyle/>
                    <a:p>
                      <a:pPr algn="l"/>
                      <a:r>
                        <a:rPr sz="770" b="1">
                          <a:solidFill>
                            <a:srgbClr val="252A2E"/>
                          </a:solidFill>
                          <a:latin typeface="Aptos"/>
                        </a:rPr>
                        <a:t>cp_errors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5 / 5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70" b="0">
                          <a:solidFill>
                            <a:srgbClr val="252A2E"/>
                          </a:solidFill>
                          <a:latin typeface="Aptos"/>
                        </a:rPr>
                        <a:t>ok 33 · bad freq 1 · bad len 1 · bad ID 9 · abort 1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327648" y="4965192"/>
            <a:ext cx="2377440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980" b="1">
                <a:solidFill>
                  <a:srgbClr val="006B73"/>
                </a:solidFill>
                <a:latin typeface="Aptos Display"/>
              </a:rPr>
              <a:t>CROSS-COVERAGE MATRIX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6327648" y="5193792"/>
          <a:ext cx="5376672" cy="758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2984"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FFFFFF"/>
                          </a:solidFill>
                          <a:latin typeface="Aptos Display"/>
                        </a:rPr>
                        <a:t>CROSS</a:t>
                      </a:r>
                    </a:p>
                  </a:txBody>
                  <a:tcPr marL="32004" marR="32004" marT="7315" marB="7315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90" b="1">
                          <a:solidFill>
                            <a:srgbClr val="FFFFFF"/>
                          </a:solidFill>
                          <a:latin typeface="Aptos Display"/>
                        </a:rPr>
                        <a:t>COV./EXP.</a:t>
                      </a:r>
                    </a:p>
                  </a:txBody>
                  <a:tcPr marL="32004" marR="32004" marT="7315" marB="7315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90" b="1">
                          <a:solidFill>
                            <a:srgbClr val="FFFFFF"/>
                          </a:solidFill>
                          <a:latin typeface="Aptos Display"/>
                        </a:rPr>
                        <a:t>%</a:t>
                      </a:r>
                    </a:p>
                  </a:txBody>
                  <a:tcPr marL="32004" marR="32004" marT="7315" marB="7315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FFFFFF"/>
                          </a:solidFill>
                          <a:latin typeface="Aptos Display"/>
                        </a:rPr>
                        <a:t>STATUS</a:t>
                      </a:r>
                    </a:p>
                  </a:txBody>
                  <a:tcPr marL="32004" marR="32004" marT="7315" marB="7315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984"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252A2E"/>
                          </a:solidFill>
                          <a:latin typeface="Aptos"/>
                        </a:rPr>
                        <a:t>cross_flash: mode × length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90" b="0">
                          <a:solidFill>
                            <a:srgbClr val="252A2E"/>
                          </a:solidFill>
                          <a:latin typeface="Aptos"/>
                        </a:rPr>
                        <a:t>10 / 10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90" b="0">
                          <a:solidFill>
                            <a:srgbClr val="252A2E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252A2E"/>
                          </a:solidFill>
                          <a:latin typeface="Aptos"/>
                        </a:rPr>
                        <a:t>IR: 4 legal bins · DR: 6 length bins</a:t>
                      </a:r>
                    </a:p>
                  </a:txBody>
                  <a:tcPr marL="32004" marR="32004" marT="7315" marB="7315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984">
                <a:tc>
                  <a:txBody>
                    <a:bodyPr/>
                    <a:lstStyle/>
                    <a:p>
                      <a:pPr algn="l"/>
                      <a:r>
                        <a:rPr sz="790" b="1">
                          <a:solidFill>
                            <a:srgbClr val="252A2E"/>
                          </a:solidFill>
                          <a:latin typeface="Aptos"/>
                        </a:rPr>
                        <a:t>cross_freq: frequency × mode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90" b="0">
                          <a:solidFill>
                            <a:srgbClr val="252A2E"/>
                          </a:solidFill>
                          <a:latin typeface="Aptos"/>
                        </a:rPr>
                        <a:t>8 / 8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90" b="0">
                          <a:solidFill>
                            <a:srgbClr val="252A2E"/>
                          </a:solidFill>
                          <a:latin typeface="Aptos"/>
                        </a:rPr>
                        <a:t>100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90" b="0">
                          <a:solidFill>
                            <a:srgbClr val="252A2E"/>
                          </a:solidFill>
                          <a:latin typeface="Aptos"/>
                        </a:rPr>
                        <a:t>All 4 frequencies closed in IR and DR</a:t>
                      </a:r>
                    </a:p>
                  </a:txBody>
                  <a:tcPr marL="32004" marR="32004" marT="7315" marB="7315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" name="Rectangle 37"/>
          <p:cNvSpPr/>
          <p:nvPr/>
        </p:nvSpPr>
        <p:spPr>
          <a:xfrm>
            <a:off x="6327648" y="6080760"/>
            <a:ext cx="5376672" cy="283464"/>
          </a:xfrm>
          <a:prstGeom prst="rect">
            <a:avLst/>
          </a:prstGeom>
          <a:solidFill>
            <a:srgbClr val="D9EFF1"/>
          </a:solidFill>
          <a:ln w="10160">
            <a:solidFill>
              <a:srgbClr val="18A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37376" y="6117336"/>
            <a:ext cx="5138928" cy="1737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830" b="1">
                <a:solidFill>
                  <a:srgbClr val="006B73"/>
                </a:solidFill>
                <a:latin typeface="Aptos"/>
              </a:rPr>
              <a:t>REGRESSION HARDENING  Repeat low-hit bins: FLASH_ABORT, capture-only ID, bad frequency, bad length, and hardware abort.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" y="6510528"/>
            <a:ext cx="1024128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780" b="0">
                <a:solidFill>
                  <a:srgbClr val="686C70"/>
                </a:solidFill>
                <a:latin typeface="Aptos"/>
              </a:rPr>
              <a:t>Report note: XCRG shows 100% functional coverage; SVA results are not contained in the supplied report.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20272" y="6473952"/>
            <a:ext cx="27432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/>
            <a:r>
              <a:rPr lang="en-IN" sz="900" b="1">
                <a:solidFill>
                  <a:srgbClr val="006B73"/>
                </a:solidFill>
                <a:latin typeface="Aptos Display"/>
              </a:rPr>
              <a:t>07</a:t>
            </a:r>
            <a:endParaRPr sz="900" b="1">
              <a:solidFill>
                <a:srgbClr val="006B73"/>
              </a:solidFill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6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6B73"/>
                </a:solidFill>
                <a:latin typeface="Aptos Display"/>
              </a:rPr>
              <a:t>08 / COMPONENT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014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2A2E"/>
                </a:solidFill>
                <a:latin typeface="Aptos Display"/>
              </a:rPr>
              <a:t>DMA Stream Bridge Controller: Architecture &amp; Functional Verification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1201400" cy="16459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16752" y="1252728"/>
            <a:ext cx="16459" cy="5102352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234440"/>
            <a:ext cx="20116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B73"/>
                </a:solidFill>
                <a:latin typeface="Aptos Display"/>
              </a:rPr>
              <a:t>DUT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234440"/>
            <a:ext cx="1600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86C70"/>
                </a:solidFill>
                <a:latin typeface="Consolas"/>
              </a:rPr>
              <a:t>dma_controller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81328"/>
            <a:ext cx="5257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252A2E"/>
                </a:solidFill>
                <a:latin typeface="Aptos"/>
              </a:rPr>
              <a:t>Single-entry, backpressure-aware AXI4-Stream bridge. Validates declared bit length, byte alignment, contiguous TKEEP and TLAST framing; one elastic register retains data losslessly through downstream stalls.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965960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B73"/>
                </a:solidFill>
                <a:latin typeface="Aptos Display"/>
              </a:rPr>
              <a:t>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965960"/>
            <a:ext cx="4544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86C70"/>
                </a:solidFill>
                <a:latin typeface="Consolas"/>
              </a:rPr>
              <a:t>clk · rst_n · start · abort · source_address[31:0] · transfer_length[31:0] 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67128"/>
            <a:ext cx="685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B73"/>
                </a:solidFill>
                <a:latin typeface="Aptos Display"/>
              </a:rPr>
              <a:t>AXIS I/O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67128"/>
            <a:ext cx="454456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686C70"/>
                </a:solidFill>
                <a:latin typeface="Consolas"/>
              </a:rPr>
              <a:t>S: tdata[31:0] · tkeep[3:0] · valid/ready · last  →  M: same signals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71930" y="2423160"/>
            <a:ext cx="3059167" cy="2414016"/>
          </a:xfrm>
          <a:prstGeom prst="rect">
            <a:avLst/>
          </a:prstGeom>
          <a:solidFill>
            <a:srgbClr val="10262C"/>
          </a:solidFill>
          <a:ln w="10160"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93215" y="2532888"/>
            <a:ext cx="3221685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90" b="0" dirty="0">
                <a:solidFill>
                  <a:srgbClr val="FFFFFF"/>
                </a:solidFill>
                <a:latin typeface="Consolas"/>
              </a:rPr>
              <a:t>┌─────────────────── DMA_CONTROLLER ───────────────────┐
│ CTRL: start · abort · address · length(bits)          │
│                    │                                  │
│       ┌────────────▼────────────┐                     │
│       │ PARAMETER + LENGTH      │── reject / error    │
│       │ VALIDATOR               │                     │
│       └────────────┬────────────┘                     │
│                    ▼                                  │
│  ┌──────────────────────────────────┐                │
│  │ TRACKER + PROTOCOL CHECKER       │                │
│  │ </a:t>
            </a:r>
            <a:r>
              <a:rPr sz="690" b="0" dirty="0" err="1">
                <a:solidFill>
                  <a:srgbClr val="FFFFFF"/>
                </a:solidFill>
                <a:latin typeface="Consolas"/>
              </a:rPr>
              <a:t>expected_bits</a:t>
            </a:r>
            <a:r>
              <a:rPr sz="690" b="0" dirty="0">
                <a:solidFill>
                  <a:srgbClr val="FFFFFF"/>
                </a:solidFill>
                <a:latin typeface="Consolas"/>
              </a:rPr>
              <a:t> / </a:t>
            </a:r>
            <a:r>
              <a:rPr sz="690" b="0" dirty="0" err="1">
                <a:solidFill>
                  <a:srgbClr val="FFFFFF"/>
                </a:solidFill>
                <a:latin typeface="Consolas"/>
              </a:rPr>
              <a:t>bits_seen</a:t>
            </a:r>
            <a:r>
              <a:rPr sz="690" b="0" dirty="0">
                <a:solidFill>
                  <a:srgbClr val="FFFFFF"/>
                </a:solidFill>
                <a:latin typeface="Consolas"/>
              </a:rPr>
              <a:t>        │                │
│  │ contiguous TKEEP / </a:t>
            </a:r>
            <a:r>
              <a:rPr sz="690" b="0" dirty="0" err="1">
                <a:solidFill>
                  <a:srgbClr val="FFFFFF"/>
                </a:solidFill>
                <a:latin typeface="Consolas"/>
              </a:rPr>
              <a:t>expected_keep</a:t>
            </a:r>
            <a:r>
              <a:rPr sz="690" b="0" dirty="0">
                <a:solidFill>
                  <a:srgbClr val="FFFFFF"/>
                </a:solidFill>
                <a:latin typeface="Consolas"/>
              </a:rPr>
              <a:t> │                │
│  │ early + late TLAST               │                │
│  └─────────────────┬────────────────┘                │
│                    ▼                                  │
│ S_AXIS ───────▶ [ ELASTIC REGISTER ] ───────▶ M_AXIS │
│ valid/ready       push-pop / freeze       valid/ready│
│                    │                                  │
│                    └────▶ done · error · busy          │
└───────────────────────────────────────────────────────┘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5001768"/>
            <a:ext cx="21945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6B73"/>
                </a:solidFill>
                <a:latin typeface="Aptos Display"/>
              </a:rPr>
              <a:t>ARCHITECTURAL HIGHLIGHTS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5248656"/>
            <a:ext cx="5266944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4" b="0">
                <a:solidFill>
                  <a:srgbClr val="252A2E"/>
                </a:solidFill>
                <a:latin typeface="Aptos"/>
              </a:rPr>
              <a:t>• Cycle-0 trap for zero or non-byte-aligned length; no stream beat is accepted.
• Dynamic expected_keep rejects zero/non-contiguous masks plus early or late TLAST.
• Ready gating (!m_valid || m_ready) freezes registered output without losing beats.
• abort or double-start immediately flushes the pipeline and returns to safe idle.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4496" y="1234440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6B73"/>
                </a:solidFill>
                <a:latin typeface="Aptos Display"/>
              </a:rPr>
              <a:t>VERIFICATION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243584"/>
            <a:ext cx="31089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86C70"/>
                </a:solidFill>
                <a:latin typeface="Consolas"/>
              </a:rPr>
              <a:t>XCRG · tb_dma_controller::cg_dma_controller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4496" y="1572768"/>
            <a:ext cx="1225296" cy="612648"/>
          </a:xfrm>
          <a:prstGeom prst="rect">
            <a:avLst/>
          </a:prstGeom>
          <a:solidFill>
            <a:srgbClr val="006B73"/>
          </a:solidFill>
          <a:ln w="10160"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54496" y="166420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FFFFFF"/>
                </a:solidFill>
                <a:latin typeface="Aptos Display"/>
              </a:rPr>
              <a:t>97.78%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1947672"/>
            <a:ext cx="12252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 Display"/>
              </a:rPr>
              <a:t>XCRG GROUP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16952" y="1572768"/>
            <a:ext cx="1225296" cy="612648"/>
          </a:xfrm>
          <a:prstGeom prst="rect">
            <a:avLst/>
          </a:prstGeom>
          <a:solidFill>
            <a:srgbClr val="DAEFEF"/>
          </a:solidFill>
          <a:ln w="10160"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16952" y="166420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06B73"/>
                </a:solidFill>
                <a:latin typeface="Aptos Display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1947672"/>
            <a:ext cx="12252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Aptos Display"/>
              </a:rPr>
              <a:t>CP BINS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9408" y="1572768"/>
            <a:ext cx="1225296" cy="612648"/>
          </a:xfrm>
          <a:prstGeom prst="rect">
            <a:avLst/>
          </a:prstGeom>
          <a:solidFill>
            <a:srgbClr val="DAEFEF"/>
          </a:solidFill>
          <a:ln w="10160"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979408" y="166420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006B73"/>
                </a:solidFill>
                <a:latin typeface="Aptos Display"/>
              </a:rPr>
              <a:t>19 / 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79408" y="1947672"/>
            <a:ext cx="12252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Aptos Display"/>
              </a:rPr>
              <a:t>CROSS BINS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41863" y="1572768"/>
            <a:ext cx="1225296" cy="612648"/>
          </a:xfrm>
          <a:prstGeom prst="rect">
            <a:avLst/>
          </a:prstGeom>
          <a:solidFill>
            <a:srgbClr val="F7E0D4"/>
          </a:solidFill>
          <a:ln w="10160"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41863" y="1664208"/>
            <a:ext cx="1225296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>
                <a:solidFill>
                  <a:srgbClr val="BC423B"/>
                </a:solidFill>
                <a:latin typeface="Aptos Display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41863" y="1947672"/>
            <a:ext cx="1225296" cy="1097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BC423B"/>
                </a:solidFill>
                <a:latin typeface="Aptos Display"/>
              </a:rPr>
              <a:t>UNCOVERED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2340864"/>
            <a:ext cx="2560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6B73"/>
                </a:solidFill>
                <a:latin typeface="Aptos Display"/>
              </a:rPr>
              <a:t>XCRG COVERAGE BREAKDOWN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254496" y="2569464"/>
          <a:ext cx="5404104" cy="1271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7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2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54864" marR="54864" marT="18288" marB="18288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COV / EXP</a:t>
                      </a:r>
                    </a:p>
                  </a:txBody>
                  <a:tcPr marL="54864" marR="54864" marT="18288" marB="18288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54864" marR="54864" marT="18288" marB="18288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52A2E"/>
                          </a:solidFill>
                          <a:latin typeface="Aptos"/>
                        </a:rPr>
                        <a:t>All 8 coverpoints</a:t>
                      </a:r>
                    </a:p>
                  </a:txBody>
                  <a:tcPr marL="54864" marR="54864" marT="18288" marB="18288"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52A2E"/>
                          </a:solidFill>
                          <a:latin typeface="Aptos"/>
                        </a:rPr>
                        <a:t>28 / 28</a:t>
                      </a:r>
                    </a:p>
                  </a:txBody>
                  <a:tcPr marL="54864" marR="54864" marT="18288" marB="18288"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54864" marR="54864" marT="18288" marB="18288"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52A2E"/>
                          </a:solidFill>
                          <a:latin typeface="Aptos"/>
                        </a:rPr>
                        <a:t>length × m_stall</a:t>
                      </a:r>
                    </a:p>
                  </a:txBody>
                  <a:tcPr marL="54864" marR="54864" marT="18288" marB="18288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52A2E"/>
                          </a:solidFill>
                          <a:latin typeface="Aptos"/>
                        </a:rPr>
                        <a:t>14 / 18</a:t>
                      </a:r>
                    </a:p>
                  </a:txBody>
                  <a:tcPr marL="54864" marR="54864" marT="18288" marB="18288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52A2E"/>
                          </a:solidFill>
                          <a:latin typeface="Aptos"/>
                        </a:rPr>
                        <a:t>77.78%</a:t>
                      </a:r>
                    </a:p>
                  </a:txBody>
                  <a:tcPr marL="54864" marR="54864" marT="18288" marB="18288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52A2E"/>
                          </a:solidFill>
                          <a:latin typeface="Aptos"/>
                        </a:rPr>
                        <a:t>scenario × error</a:t>
                      </a:r>
                    </a:p>
                  </a:txBody>
                  <a:tcPr marL="54864" marR="54864" marT="18288" marB="18288"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52A2E"/>
                          </a:solidFill>
                          <a:latin typeface="Aptos"/>
                        </a:rPr>
                        <a:t>5 / 5</a:t>
                      </a:r>
                    </a:p>
                  </a:txBody>
                  <a:tcPr marL="54864" marR="54864" marT="18288" marB="18288"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52A2E"/>
                          </a:solidFill>
                          <a:latin typeface="Aptos"/>
                        </a:rPr>
                        <a:t>100%</a:t>
                      </a:r>
                    </a:p>
                  </a:txBody>
                  <a:tcPr marL="54864" marR="54864" marT="18288" marB="18288"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252A2E"/>
                          </a:solidFill>
                          <a:latin typeface="Aptos"/>
                        </a:rPr>
                        <a:t>Total represented bins</a:t>
                      </a:r>
                    </a:p>
                  </a:txBody>
                  <a:tcPr marL="54864" marR="54864" marT="18288" marB="18288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52A2E"/>
                          </a:solidFill>
                          <a:latin typeface="Aptos"/>
                        </a:rPr>
                        <a:t>47 / 51</a:t>
                      </a:r>
                    </a:p>
                  </a:txBody>
                  <a:tcPr marL="54864" marR="54864" marT="18288" marB="18288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10" b="0">
                          <a:solidFill>
                            <a:srgbClr val="252A2E"/>
                          </a:solidFill>
                          <a:latin typeface="Aptos"/>
                        </a:rPr>
                        <a:t>92.16%</a:t>
                      </a:r>
                    </a:p>
                  </a:txBody>
                  <a:tcPr marL="54864" marR="54864" marT="18288" marB="18288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6254496" y="3877056"/>
            <a:ext cx="5404104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BC423B"/>
                </a:solidFill>
                <a:latin typeface="Aptos"/>
              </a:rPr>
              <a:t>Four uncovered cross bins are zero-length / unaligned classes × output-stall state.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54496" y="4142232"/>
            <a:ext cx="26517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006B73"/>
                </a:solidFill>
                <a:latin typeface="Aptos Display"/>
              </a:rPr>
              <a:t>SUPPLIED REGRESSION SUMMARY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6254496" y="4370832"/>
          <a:ext cx="5404104" cy="1271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0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2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CHECK</a:t>
                      </a:r>
                    </a:p>
                  </a:txBody>
                  <a:tcPr marL="54864" marR="54864" marT="18288" marB="18288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 marL="54864" marR="54864" marT="18288" marB="18288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Aptos"/>
                        </a:rPr>
                        <a:t>STATUS / SOURCE</a:t>
                      </a:r>
                    </a:p>
                  </a:txBody>
                  <a:tcPr marL="54864" marR="54864" marT="18288" marB="18288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52A2E"/>
                          </a:solidFill>
                          <a:latin typeface="Aptos"/>
                        </a:rPr>
                        <a:t>Runs</a:t>
                      </a:r>
                    </a:p>
                  </a:txBody>
                  <a:tcPr marL="54864" marR="54864" marT="18288" marB="18288"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52A2E"/>
                          </a:solidFill>
                          <a:latin typeface="Aptos"/>
                        </a:rPr>
                        <a:t>120 random + 27 directed</a:t>
                      </a:r>
                    </a:p>
                  </a:txBody>
                  <a:tcPr marL="54864" marR="54864" marT="18288" marB="18288"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52A2E"/>
                          </a:solidFill>
                          <a:latin typeface="Aptos"/>
                        </a:rPr>
                        <a:t>PASSED</a:t>
                      </a:r>
                    </a:p>
                  </a:txBody>
                  <a:tcPr marL="54864" marR="54864" marT="18288" marB="18288"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2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52A2E"/>
                          </a:solidFill>
                          <a:latin typeface="Aptos"/>
                        </a:rPr>
                        <a:t>Stream beats</a:t>
                      </a:r>
                    </a:p>
                  </a:txBody>
                  <a:tcPr marL="54864" marR="54864" marT="18288" marB="18288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52A2E"/>
                          </a:solidFill>
                          <a:latin typeface="Aptos"/>
                        </a:rPr>
                        <a:t>1,850 in / 1,850 out</a:t>
                      </a:r>
                    </a:p>
                  </a:txBody>
                  <a:tcPr marL="54864" marR="54864" marT="18288" marB="18288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52A2E"/>
                          </a:solidFill>
                          <a:latin typeface="Aptos"/>
                        </a:rPr>
                        <a:t>0 mismatches</a:t>
                      </a:r>
                    </a:p>
                  </a:txBody>
                  <a:tcPr marL="54864" marR="54864" marT="18288" marB="18288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20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52A2E"/>
                          </a:solidFill>
                          <a:latin typeface="Aptos"/>
                        </a:rPr>
                        <a:t>Pulse samples</a:t>
                      </a:r>
                    </a:p>
                  </a:txBody>
                  <a:tcPr marL="54864" marR="54864" marT="18288" marB="18288"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52A2E"/>
                          </a:solidFill>
                          <a:latin typeface="Aptos"/>
                        </a:rPr>
                        <a:t>done 107 · error 8</a:t>
                      </a:r>
                    </a:p>
                  </a:txBody>
                  <a:tcPr marL="54864" marR="54864" marT="18288" marB="18288"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52A2E"/>
                          </a:solidFill>
                          <a:latin typeface="Aptos"/>
                        </a:rPr>
                        <a:t>XCRG evidence</a:t>
                      </a:r>
                    </a:p>
                  </a:txBody>
                  <a:tcPr marL="54864" marR="54864" marT="18288" marB="18288"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20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252A2E"/>
                          </a:solidFill>
                          <a:latin typeface="Aptos"/>
                        </a:rPr>
                        <a:t>Assertions</a:t>
                      </a:r>
                    </a:p>
                  </a:txBody>
                  <a:tcPr marL="54864" marR="54864" marT="18288" marB="18288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52A2E"/>
                          </a:solidFill>
                          <a:latin typeface="Aptos"/>
                        </a:rPr>
                        <a:t>7 properties</a:t>
                      </a:r>
                    </a:p>
                  </a:txBody>
                  <a:tcPr marL="54864" marR="54864" marT="18288" marB="18288"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252A2E"/>
                          </a:solidFill>
                          <a:latin typeface="Aptos"/>
                        </a:rPr>
                        <a:t>0 violations</a:t>
                      </a:r>
                    </a:p>
                  </a:txBody>
                  <a:tcPr marL="54864" marR="54864" marT="18288" marB="18288">
                    <a:solidFill>
                      <a:srgbClr val="F8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6254496" y="5751576"/>
            <a:ext cx="5404104" cy="4297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5" b="0">
                <a:solidFill>
                  <a:srgbClr val="252A2E"/>
                </a:solidFill>
                <a:latin typeface="Aptos"/>
              </a:rPr>
              <a:t>SVA: done/error mutex · exact one-cycle done/error pulses · output stable under stall · busy clears at termination · valid/ready suppressed while idle.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54496" y="6254496"/>
            <a:ext cx="5404104" cy="36576"/>
          </a:xfrm>
          <a:prstGeom prst="rect">
            <a:avLst/>
          </a:prstGeom>
          <a:solidFill>
            <a:srgbClr val="F2A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54496" y="6336792"/>
            <a:ext cx="5166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86C70"/>
                </a:solidFill>
                <a:latin typeface="Aptos"/>
              </a:rPr>
              <a:t>Coverage note: 100% applies to coverpoint bins; the complete XCRG group score is 97.7778%.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510528"/>
            <a:ext cx="265176" cy="1920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6B73"/>
                </a:solidFill>
                <a:latin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900" b="1">
                <a:solidFill>
                  <a:srgbClr val="006B73"/>
                </a:solidFill>
                <a:latin typeface="Aptos"/>
              </a:rPr>
              <a:t>10 / RTL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014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100" b="1">
                <a:solidFill>
                  <a:srgbClr val="202A2F"/>
                </a:solidFill>
                <a:latin typeface="Aptos Display"/>
              </a:rPr>
              <a:t>Detailed Coverage Evidence &amp; Programmer RTL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1201400" cy="16459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/>
          </p:cNvSpPr>
          <p:nvPr/>
        </p:nvSpPr>
        <p:spPr>
          <a:xfrm>
            <a:off x="6016752" y="1252728"/>
            <a:ext cx="16459" cy="508406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11338560" y="6510528"/>
            <a:ext cx="26517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/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52728"/>
            <a:ext cx="525780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900" b="1">
                <a:solidFill>
                  <a:srgbClr val="006B73"/>
                </a:solidFill>
                <a:latin typeface="Aptos"/>
              </a:rPr>
              <a:t>GRP0 · PROGRAMMER_PKG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3264407" y="1252728"/>
            <a:ext cx="2468880" cy="1492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0" b="0">
                <a:solidFill>
                  <a:srgbClr val="58646A"/>
                </a:solidFill>
                <a:latin typeface="Consolas"/>
              </a:rPr>
              <a:t>pkg_coverage_group  /  pkg_cov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1572768"/>
            <a:ext cx="148132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>
                <a:solidFill>
                  <a:srgbClr val="006B73"/>
                </a:solidFill>
                <a:latin typeface="Aptos Display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56231"/>
            <a:ext cx="1481328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640" b="1">
                <a:solidFill>
                  <a:srgbClr val="006B73"/>
                </a:solidFill>
                <a:latin typeface="Aptos"/>
              </a:rPr>
              <a:t>GROUP SCORE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084831" y="1572768"/>
            <a:ext cx="9144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2212848" y="1572768"/>
            <a:ext cx="12984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>
                <a:solidFill>
                  <a:srgbClr val="006B73"/>
                </a:solidFill>
                <a:latin typeface="Aptos Display"/>
              </a:rPr>
              <a:t>12 /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1856231"/>
            <a:ext cx="1298448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640" b="1">
                <a:solidFill>
                  <a:srgbClr val="006B73"/>
                </a:solidFill>
                <a:latin typeface="Aptos"/>
              </a:rPr>
              <a:t>BINS COVERED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>
          <a:xfrm>
            <a:off x="3621024" y="1572768"/>
            <a:ext cx="9144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749039" y="1572768"/>
            <a:ext cx="12984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>
                <a:solidFill>
                  <a:srgbClr val="006B73"/>
                </a:solidFill>
                <a:latin typeface="Aptos Display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1856231"/>
            <a:ext cx="1298448" cy="13542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640" b="1">
                <a:solidFill>
                  <a:srgbClr val="006B73"/>
                </a:solidFill>
                <a:latin typeface="Aptos"/>
              </a:rPr>
              <a:t>UNCOVERED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475488" y="1993392"/>
            <a:ext cx="5257800" cy="9144"/>
          </a:xfrm>
          <a:prstGeom prst="rect">
            <a:avLst/>
          </a:prstGeom>
          <a:solidFill>
            <a:srgbClr val="00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475488" y="2157984"/>
            <a:ext cx="525780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900" b="1">
                <a:solidFill>
                  <a:srgbClr val="006B73"/>
                </a:solidFill>
                <a:latin typeface="Aptos"/>
              </a:rPr>
              <a:t>XCRG REPORT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7" y="2157984"/>
            <a:ext cx="246888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8646A"/>
                </a:solidFill>
                <a:latin typeface="Consolas"/>
              </a:rPr>
              <a:t>source: tb_rtl_coverage.sv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>
          <a:xfrm>
            <a:off x="475488" y="2395728"/>
            <a:ext cx="1874519" cy="25603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48640" y="2432304"/>
            <a:ext cx="1728216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0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22" name="Rectangle 21"/>
          <p:cNvSpPr>
            <a:spLocks/>
          </p:cNvSpPr>
          <p:nvPr/>
        </p:nvSpPr>
        <p:spPr>
          <a:xfrm>
            <a:off x="2350008" y="2395728"/>
            <a:ext cx="9144" cy="256032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2350008" y="2395728"/>
            <a:ext cx="960120" cy="25603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2423160" y="2460560"/>
            <a:ext cx="8138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00" b="1">
                <a:solidFill>
                  <a:srgbClr val="FFFFFF"/>
                </a:solidFill>
                <a:latin typeface="Aptos"/>
              </a:rPr>
              <a:t>VALUE</a:t>
            </a:r>
          </a:p>
        </p:txBody>
      </p:sp>
      <p:sp>
        <p:nvSpPr>
          <p:cNvPr id="25" name="Rectangle 24"/>
          <p:cNvSpPr>
            <a:spLocks/>
          </p:cNvSpPr>
          <p:nvPr/>
        </p:nvSpPr>
        <p:spPr>
          <a:xfrm>
            <a:off x="3310128" y="2395728"/>
            <a:ext cx="9144" cy="256032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 25"/>
          <p:cNvSpPr>
            <a:spLocks/>
          </p:cNvSpPr>
          <p:nvPr/>
        </p:nvSpPr>
        <p:spPr>
          <a:xfrm>
            <a:off x="3310128" y="2395728"/>
            <a:ext cx="960120" cy="25603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/>
          <p:cNvSpPr txBox="1"/>
          <p:nvPr/>
        </p:nvSpPr>
        <p:spPr>
          <a:xfrm>
            <a:off x="3383280" y="2460560"/>
            <a:ext cx="8138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00" b="1">
                <a:solidFill>
                  <a:srgbClr val="FFFFFF"/>
                </a:solidFill>
                <a:latin typeface="Aptos"/>
              </a:rPr>
              <a:t>GOAL</a:t>
            </a:r>
          </a:p>
        </p:txBody>
      </p:sp>
      <p:sp>
        <p:nvSpPr>
          <p:cNvPr id="28" name="Rectangle 27"/>
          <p:cNvSpPr>
            <a:spLocks/>
          </p:cNvSpPr>
          <p:nvPr/>
        </p:nvSpPr>
        <p:spPr>
          <a:xfrm>
            <a:off x="4270248" y="2395728"/>
            <a:ext cx="9144" cy="256032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>
            <a:spLocks/>
          </p:cNvSpPr>
          <p:nvPr/>
        </p:nvSpPr>
        <p:spPr>
          <a:xfrm>
            <a:off x="4270248" y="2395728"/>
            <a:ext cx="960120" cy="25603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/>
          <p:cNvSpPr txBox="1"/>
          <p:nvPr/>
        </p:nvSpPr>
        <p:spPr>
          <a:xfrm>
            <a:off x="4343400" y="2460560"/>
            <a:ext cx="8138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00" b="1">
                <a:solidFill>
                  <a:srgbClr val="FFFFFF"/>
                </a:solidFill>
                <a:latin typeface="Aptos"/>
              </a:rPr>
              <a:t>AT LEAST</a:t>
            </a:r>
          </a:p>
        </p:txBody>
      </p:sp>
      <p:sp>
        <p:nvSpPr>
          <p:cNvPr id="31" name="Rectangle 30"/>
          <p:cNvSpPr>
            <a:spLocks/>
          </p:cNvSpPr>
          <p:nvPr/>
        </p:nvSpPr>
        <p:spPr>
          <a:xfrm>
            <a:off x="5230368" y="2395728"/>
            <a:ext cx="9144" cy="256032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>
            <a:spLocks/>
          </p:cNvSpPr>
          <p:nvPr/>
        </p:nvSpPr>
        <p:spPr>
          <a:xfrm>
            <a:off x="5230368" y="2395728"/>
            <a:ext cx="502920" cy="25603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/>
          <p:cNvSpPr txBox="1"/>
          <p:nvPr/>
        </p:nvSpPr>
        <p:spPr>
          <a:xfrm>
            <a:off x="5303520" y="2460560"/>
            <a:ext cx="356616" cy="144655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00" b="1">
                <a:solidFill>
                  <a:srgbClr val="FFFFFF"/>
                </a:solidFill>
                <a:latin typeface="Aptos"/>
              </a:rPr>
              <a:t>WT</a:t>
            </a:r>
          </a:p>
        </p:txBody>
      </p:sp>
      <p:sp>
        <p:nvSpPr>
          <p:cNvPr id="34" name="Rectangle 33"/>
          <p:cNvSpPr>
            <a:spLocks/>
          </p:cNvSpPr>
          <p:nvPr/>
        </p:nvSpPr>
        <p:spPr>
          <a:xfrm>
            <a:off x="475488" y="2651760"/>
            <a:ext cx="5257800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/>
          <p:cNvSpPr/>
          <p:nvPr/>
        </p:nvSpPr>
        <p:spPr>
          <a:xfrm>
            <a:off x="475488" y="2651760"/>
            <a:ext cx="1874519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2688336"/>
            <a:ext cx="17282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02A2F"/>
                </a:solidFill>
                <a:latin typeface="Aptos"/>
              </a:rPr>
              <a:t>Group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50008" y="2651760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350008" y="2651760"/>
            <a:ext cx="96012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423160" y="2688336"/>
            <a:ext cx="8138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02A2F"/>
                </a:solidFill>
                <a:latin typeface="Consolas"/>
              </a:rPr>
              <a:t>pkg_coverage_group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10128" y="2651760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3310128" y="2651760"/>
            <a:ext cx="96012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83280" y="2688336"/>
            <a:ext cx="8138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02A2F"/>
                </a:solidFill>
                <a:latin typeface="Aptos"/>
              </a:rPr>
              <a:t>100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70248" y="2651760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270248" y="2651760"/>
            <a:ext cx="96012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43400" y="2688336"/>
            <a:ext cx="8138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02A2F"/>
                </a:solidFill>
                <a:latin typeface="Aptos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30368" y="2651760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230368" y="2651760"/>
            <a:ext cx="50292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03520" y="2688336"/>
            <a:ext cx="3566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" y="2944368"/>
            <a:ext cx="5257800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475488" y="2944368"/>
            <a:ext cx="1874519" cy="29260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48640" y="2980944"/>
            <a:ext cx="17282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02A2F"/>
                </a:solidFill>
                <a:latin typeface="Aptos"/>
              </a:rPr>
              <a:t>Instance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350008" y="2944368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350008" y="2944368"/>
            <a:ext cx="960120" cy="29260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423160" y="2980944"/>
            <a:ext cx="8138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02A2F"/>
                </a:solidFill>
                <a:latin typeface="Consolas"/>
              </a:rPr>
              <a:t>pkg_cov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10128" y="2944368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3310128" y="2944368"/>
            <a:ext cx="960120" cy="29260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383280" y="2980944"/>
            <a:ext cx="8138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02A2F"/>
                </a:solidFill>
                <a:latin typeface="Aptos"/>
              </a:rPr>
              <a:t>100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70248" y="2944368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270248" y="2944368"/>
            <a:ext cx="960120" cy="29260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343400" y="2980944"/>
            <a:ext cx="8138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230368" y="2944368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230368" y="2944368"/>
            <a:ext cx="502920" cy="29260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303520" y="2980944"/>
            <a:ext cx="3566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5488" y="3236976"/>
            <a:ext cx="5257800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475488" y="3236976"/>
            <a:ext cx="1874519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48640" y="3273552"/>
            <a:ext cx="17282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02A2F"/>
                </a:solidFill>
                <a:latin typeface="Aptos"/>
              </a:rPr>
              <a:t>Coverpoint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350008" y="3236976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2350008" y="3236976"/>
            <a:ext cx="96012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423160" y="3273552"/>
            <a:ext cx="8138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02A2F"/>
                </a:solidFill>
                <a:latin typeface="Consolas"/>
              </a:rPr>
              <a:t>cp_package_category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10128" y="3236976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3310128" y="3236976"/>
            <a:ext cx="96012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383280" y="3273552"/>
            <a:ext cx="8138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02A2F"/>
                </a:solidFill>
                <a:latin typeface="Aptos"/>
              </a:rPr>
              <a:t>100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0248" y="3236976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4270248" y="3236976"/>
            <a:ext cx="96012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343400" y="3273552"/>
            <a:ext cx="8138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230368" y="3236976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5230368" y="3236976"/>
            <a:ext cx="50292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303520" y="3273552"/>
            <a:ext cx="35661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75488" y="3602736"/>
            <a:ext cx="5257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6B73"/>
                </a:solidFill>
                <a:latin typeface="Aptos"/>
              </a:rPr>
              <a:t>COVERPOINT &amp; BIN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64407" y="3602736"/>
            <a:ext cx="246888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8646A"/>
                </a:solidFill>
                <a:latin typeface="Consolas"/>
              </a:rPr>
              <a:t>Auto Bin Max 64 · Print Missing 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5488" y="3840480"/>
            <a:ext cx="2057400" cy="246888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48640" y="3877056"/>
            <a:ext cx="1911095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BIN SET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32888" y="3840480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2532888" y="3840480"/>
            <a:ext cx="1097280" cy="246888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2606040" y="3877056"/>
            <a:ext cx="950976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EXPECTED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30168" y="3840480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630168" y="3840480"/>
            <a:ext cx="1051560" cy="246888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703320" y="3877056"/>
            <a:ext cx="905255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COVERED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681727" y="3840480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4681727" y="3840480"/>
            <a:ext cx="1051560" cy="246888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754879" y="3877056"/>
            <a:ext cx="905255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HITS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75488" y="4087368"/>
            <a:ext cx="5257800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475488" y="4087368"/>
            <a:ext cx="205740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48640" y="4123944"/>
            <a:ext cx="1911095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202A2F"/>
                </a:solidFill>
                <a:latin typeface="Consolas"/>
              </a:rPr>
              <a:t>category_1 – category_11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32888" y="4087368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2532888" y="4087368"/>
            <a:ext cx="109728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606040" y="4123944"/>
            <a:ext cx="95097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02A2F"/>
                </a:solidFill>
                <a:latin typeface="Aptos"/>
              </a:rPr>
              <a:t>11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30168" y="4087368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3630168" y="4087368"/>
            <a:ext cx="105156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703320" y="4123944"/>
            <a:ext cx="905255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02A2F"/>
                </a:solidFill>
                <a:latin typeface="Aptos"/>
              </a:rPr>
              <a:t>11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681727" y="4087368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4681727" y="4087368"/>
            <a:ext cx="105156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54879" y="4123944"/>
            <a:ext cx="905255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02A2F"/>
                </a:solidFill>
                <a:latin typeface="Aptos"/>
              </a:rPr>
              <a:t>1 each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75488" y="4379976"/>
            <a:ext cx="5257800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475488" y="4379976"/>
            <a:ext cx="2057400" cy="29260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548640" y="4416552"/>
            <a:ext cx="1911095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202A2F"/>
                </a:solidFill>
                <a:latin typeface="Consolas"/>
              </a:rPr>
              <a:t>category_12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532888" y="4379976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2532888" y="4379976"/>
            <a:ext cx="1097280" cy="29260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606040" y="4416552"/>
            <a:ext cx="95097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630168" y="4379976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3630168" y="4379976"/>
            <a:ext cx="1051560" cy="29260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703320" y="4416552"/>
            <a:ext cx="905255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681727" y="4379976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4681727" y="4379976"/>
            <a:ext cx="1051560" cy="29260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754879" y="4416552"/>
            <a:ext cx="905255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02A2F"/>
                </a:solidFill>
                <a:latin typeface="Aptos"/>
              </a:rPr>
              <a:t>2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75488" y="4672584"/>
            <a:ext cx="5257800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475488" y="4672584"/>
            <a:ext cx="205740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548640" y="4709160"/>
            <a:ext cx="1911095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202A2F"/>
                </a:solidFill>
                <a:latin typeface="Consolas"/>
              </a:rPr>
              <a:t>User-defined bins total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532888" y="4672584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532888" y="4672584"/>
            <a:ext cx="109728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606040" y="4709160"/>
            <a:ext cx="950976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02A2F"/>
                </a:solidFill>
                <a:latin typeface="Aptos"/>
              </a:rPr>
              <a:t>12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30168" y="4672584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3630168" y="4672584"/>
            <a:ext cx="105156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703320" y="4709160"/>
            <a:ext cx="905255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02A2F"/>
                </a:solidFill>
                <a:latin typeface="Aptos"/>
              </a:rPr>
              <a:t>12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681727" y="4672584"/>
            <a:ext cx="9144" cy="29260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4681727" y="4672584"/>
            <a:ext cx="1051560" cy="29260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4754879" y="4709160"/>
            <a:ext cx="905255" cy="2286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>
                <a:solidFill>
                  <a:srgbClr val="202A2F"/>
                </a:solidFill>
                <a:latin typeface="Aptos"/>
              </a:rPr>
              <a:t>13 hits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75488" y="5102352"/>
            <a:ext cx="5257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6B73"/>
                </a:solidFill>
                <a:latin typeface="Aptos"/>
              </a:rPr>
              <a:t>DIRECTED PACKAGE EVIDENCE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264407" y="5102352"/>
            <a:ext cx="246888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8646A"/>
                </a:solidFill>
                <a:latin typeface="Consolas"/>
              </a:rPr>
              <a:t>94 checked cases — separate from XCRG 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75488" y="5367528"/>
            <a:ext cx="14630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30936" y="5367528"/>
            <a:ext cx="510235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5" b="0">
                <a:solidFill>
                  <a:srgbClr val="202A2F"/>
                </a:solidFill>
                <a:latin typeface="Aptos"/>
              </a:rPr>
              <a:t>Parameter and enum encodings exercised across the package categories.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75488" y="5568696"/>
            <a:ext cx="14630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30936" y="5568696"/>
            <a:ext cx="510235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5" b="0">
                <a:solidFill>
                  <a:srgbClr val="202A2F"/>
                </a:solidFill>
                <a:latin typeface="Aptos"/>
              </a:rPr>
              <a:t>Shared constants and common type definitions checked for expected values.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75488" y="5769864"/>
            <a:ext cx="14630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30936" y="5769864"/>
            <a:ext cx="510235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5" b="0">
                <a:solidFill>
                  <a:srgbClr val="202A2F"/>
                </a:solidFill>
                <a:latin typeface="Aptos"/>
              </a:rPr>
              <a:t>CRC helper behavior checked for deterministic outputs and edge cases.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75488" y="5971031"/>
            <a:ext cx="146304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30936" y="5971031"/>
            <a:ext cx="510235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5" b="0">
                <a:solidFill>
                  <a:srgbClr val="202A2F"/>
                </a:solidFill>
                <a:latin typeface="Aptos"/>
              </a:rPr>
              <a:t>100% applies only to the 12 reported functional bins; no code-coverage claim.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254496" y="1252728"/>
            <a:ext cx="540410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6B73"/>
                </a:solidFill>
                <a:latin typeface="Aptos"/>
              </a:rPr>
              <a:t>INTERRUPT CONTROLLER + TIME-MULTIPLEX SCHEDULER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189720" y="1252728"/>
            <a:ext cx="246888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8646A"/>
                </a:solidFill>
                <a:latin typeface="Consolas"/>
              </a:rPr>
              <a:t>verified DUT interface view</a:t>
            </a:r>
          </a:p>
        </p:txBody>
      </p:sp>
      <p:pic>
        <p:nvPicPr>
          <p:cNvPr id="192" name="Picture 191">
            <a:extLst>
              <a:ext uri="{FF2B5EF4-FFF2-40B4-BE49-F238E27FC236}">
                <a16:creationId xmlns:a16="http://schemas.microsoft.com/office/drawing/2014/main" id="{9EED39CF-99A3-94FE-F6D5-EAF5EDF47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466697"/>
            <a:ext cx="5960317" cy="4070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2743200" cy="13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900" b="1">
                <a:solidFill>
                  <a:srgbClr val="006B73"/>
                </a:solidFill>
                <a:latin typeface="Aptos"/>
              </a:rPr>
              <a:t>11 / RTL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85216"/>
            <a:ext cx="112014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100" b="1">
                <a:solidFill>
                  <a:srgbClr val="202A2F"/>
                </a:solidFill>
                <a:latin typeface="Aptos Display"/>
              </a:rPr>
              <a:t>Detailed XCRG Evidence: Interrupt Controller &amp; Scheduler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1201400" cy="16459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>
            <a:spLocks/>
          </p:cNvSpPr>
          <p:nvPr/>
        </p:nvSpPr>
        <p:spPr>
          <a:xfrm>
            <a:off x="6016752" y="1252728"/>
            <a:ext cx="16459" cy="508406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11338560" y="6510528"/>
            <a:ext cx="26517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/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52728"/>
            <a:ext cx="525780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900" b="1">
                <a:solidFill>
                  <a:srgbClr val="006B73"/>
                </a:solidFill>
                <a:latin typeface="Aptos"/>
              </a:rPr>
              <a:t>GRP1 · INTERRUPT_CONTROLLER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4407" y="1252728"/>
            <a:ext cx="2468880" cy="1492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0" b="0">
                <a:solidFill>
                  <a:srgbClr val="58646A"/>
                </a:solidFill>
                <a:latin typeface="Consolas"/>
              </a:rPr>
              <a:t>irq_coverage_group  /  irq_cov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" y="1519285"/>
            <a:ext cx="1481328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>
                <a:solidFill>
                  <a:srgbClr val="006B73"/>
                </a:solidFill>
                <a:latin typeface="Aptos Display"/>
              </a:rPr>
              <a:t>100%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502920" y="1837943"/>
            <a:ext cx="1481328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640" b="1">
                <a:solidFill>
                  <a:srgbClr val="006B73"/>
                </a:solidFill>
                <a:latin typeface="Aptos"/>
              </a:rPr>
              <a:t>GROUP SCORE</a:t>
            </a:r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084831" y="1554480"/>
            <a:ext cx="9144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2212848" y="1519285"/>
            <a:ext cx="1298448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>
                <a:solidFill>
                  <a:srgbClr val="006B73"/>
                </a:solidFill>
                <a:latin typeface="Aptos Display"/>
              </a:rPr>
              <a:t>12 / 12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2212848" y="1837943"/>
            <a:ext cx="1298448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640" b="1">
                <a:solidFill>
                  <a:srgbClr val="006B73"/>
                </a:solidFill>
                <a:latin typeface="Aptos"/>
              </a:rPr>
              <a:t>BINS COVERED</a:t>
            </a:r>
          </a:p>
        </p:txBody>
      </p:sp>
      <p:sp>
        <p:nvSpPr>
          <p:cNvPr id="14" name="Rectangle 13"/>
          <p:cNvSpPr>
            <a:spLocks/>
          </p:cNvSpPr>
          <p:nvPr/>
        </p:nvSpPr>
        <p:spPr>
          <a:xfrm>
            <a:off x="3621024" y="1554480"/>
            <a:ext cx="9144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3749039" y="1519285"/>
            <a:ext cx="1298448" cy="34471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2000" b="1">
                <a:solidFill>
                  <a:srgbClr val="006B73"/>
                </a:solidFill>
                <a:latin typeface="Aptos Display"/>
              </a:rPr>
              <a:t>0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3749039" y="1837943"/>
            <a:ext cx="1298448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640" b="1">
                <a:solidFill>
                  <a:srgbClr val="006B73"/>
                </a:solidFill>
                <a:latin typeface="Aptos"/>
              </a:rPr>
              <a:t>UNCOVERED</a:t>
            </a:r>
          </a:p>
        </p:txBody>
      </p:sp>
      <p:sp>
        <p:nvSpPr>
          <p:cNvPr id="17" name="Rectangle 16"/>
          <p:cNvSpPr>
            <a:spLocks/>
          </p:cNvSpPr>
          <p:nvPr/>
        </p:nvSpPr>
        <p:spPr>
          <a:xfrm>
            <a:off x="475488" y="1956816"/>
            <a:ext cx="5257800" cy="9144"/>
          </a:xfrm>
          <a:prstGeom prst="rect">
            <a:avLst/>
          </a:prstGeom>
          <a:solidFill>
            <a:srgbClr val="00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475488" y="2112264"/>
            <a:ext cx="5257800" cy="17543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900" b="1">
                <a:solidFill>
                  <a:srgbClr val="006B73"/>
                </a:solidFill>
                <a:latin typeface="Aptos"/>
              </a:rPr>
              <a:t>REPORT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7" y="2112264"/>
            <a:ext cx="2468880" cy="2616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0" b="0">
                <a:solidFill>
                  <a:srgbClr val="58646A"/>
                </a:solidFill>
                <a:latin typeface="Consolas"/>
              </a:rPr>
              <a:t>Goal 100 · Weight 1 · At least 1 · Auto Bin Max 64</a:t>
            </a:r>
          </a:p>
        </p:txBody>
      </p:sp>
      <p:sp>
        <p:nvSpPr>
          <p:cNvPr id="20" name="Rectangle 19"/>
          <p:cNvSpPr>
            <a:spLocks/>
          </p:cNvSpPr>
          <p:nvPr/>
        </p:nvSpPr>
        <p:spPr>
          <a:xfrm>
            <a:off x="475488" y="2340864"/>
            <a:ext cx="1353312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/>
          <p:cNvSpPr txBox="1"/>
          <p:nvPr/>
        </p:nvSpPr>
        <p:spPr>
          <a:xfrm>
            <a:off x="548640" y="2377440"/>
            <a:ext cx="120700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00" b="1">
                <a:solidFill>
                  <a:srgbClr val="FFFFFF"/>
                </a:solidFill>
                <a:latin typeface="Aptos"/>
              </a:rPr>
              <a:t>ITEM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2340864"/>
            <a:ext cx="9144" cy="219456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>
            <a:spLocks/>
          </p:cNvSpPr>
          <p:nvPr/>
        </p:nvSpPr>
        <p:spPr>
          <a:xfrm>
            <a:off x="1828800" y="2340864"/>
            <a:ext cx="2267712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1901952" y="2377440"/>
            <a:ext cx="2121408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00" b="1">
                <a:solidFill>
                  <a:srgbClr val="FFFFFF"/>
                </a:solidFill>
                <a:latin typeface="Aptos"/>
              </a:rPr>
              <a:t>REPORT 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96512" y="2340864"/>
            <a:ext cx="9144" cy="219456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>
            <a:spLocks/>
          </p:cNvSpPr>
          <p:nvPr/>
        </p:nvSpPr>
        <p:spPr>
          <a:xfrm>
            <a:off x="4096512" y="2340864"/>
            <a:ext cx="1636776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/>
          <p:cNvSpPr txBox="1"/>
          <p:nvPr/>
        </p:nvSpPr>
        <p:spPr>
          <a:xfrm>
            <a:off x="4169664" y="2377440"/>
            <a:ext cx="1490472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00" b="1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488" y="2560320"/>
            <a:ext cx="5257800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>
            <a:spLocks/>
          </p:cNvSpPr>
          <p:nvPr/>
        </p:nvSpPr>
        <p:spPr>
          <a:xfrm>
            <a:off x="475488" y="2560320"/>
            <a:ext cx="1353312" cy="24688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/>
          <p:cNvSpPr txBox="1"/>
          <p:nvPr/>
        </p:nvSpPr>
        <p:spPr>
          <a:xfrm>
            <a:off x="548640" y="2596896"/>
            <a:ext cx="12070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25" b="1">
                <a:solidFill>
                  <a:srgbClr val="202A2F"/>
                </a:solidFill>
                <a:latin typeface="Aptos"/>
              </a:rPr>
              <a:t>Group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2560320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>
            <a:spLocks/>
          </p:cNvSpPr>
          <p:nvPr/>
        </p:nvSpPr>
        <p:spPr>
          <a:xfrm>
            <a:off x="1828800" y="2560320"/>
            <a:ext cx="2267712" cy="24688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/>
          <p:cNvSpPr txBox="1"/>
          <p:nvPr/>
        </p:nvSpPr>
        <p:spPr>
          <a:xfrm>
            <a:off x="1901952" y="2596896"/>
            <a:ext cx="21214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25" b="0">
                <a:solidFill>
                  <a:srgbClr val="202A2F"/>
                </a:solidFill>
                <a:latin typeface="Consolas"/>
              </a:rPr>
              <a:t>irq_coverage_group</a:t>
            </a:r>
          </a:p>
        </p:txBody>
      </p:sp>
      <p:sp>
        <p:nvSpPr>
          <p:cNvPr id="34" name="Rectangle 33"/>
          <p:cNvSpPr>
            <a:spLocks/>
          </p:cNvSpPr>
          <p:nvPr/>
        </p:nvSpPr>
        <p:spPr>
          <a:xfrm>
            <a:off x="4096512" y="2560320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/>
          <p:cNvSpPr>
            <a:spLocks/>
          </p:cNvSpPr>
          <p:nvPr/>
        </p:nvSpPr>
        <p:spPr>
          <a:xfrm>
            <a:off x="4096512" y="2560320"/>
            <a:ext cx="1636776" cy="24688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/>
          <p:cNvSpPr txBox="1"/>
          <p:nvPr/>
        </p:nvSpPr>
        <p:spPr>
          <a:xfrm>
            <a:off x="4169664" y="2596896"/>
            <a:ext cx="1490472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25" b="0">
                <a:solidFill>
                  <a:srgbClr val="202A2F"/>
                </a:solidFill>
                <a:latin typeface="Aptos"/>
              </a:rPr>
              <a:t>100%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75488" y="2807208"/>
            <a:ext cx="5257800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>
            <a:spLocks/>
          </p:cNvSpPr>
          <p:nvPr/>
        </p:nvSpPr>
        <p:spPr>
          <a:xfrm>
            <a:off x="475488" y="2807208"/>
            <a:ext cx="1353312" cy="24688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TextBox 38"/>
          <p:cNvSpPr txBox="1"/>
          <p:nvPr/>
        </p:nvSpPr>
        <p:spPr>
          <a:xfrm>
            <a:off x="548640" y="2843784"/>
            <a:ext cx="12070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25" b="1">
                <a:solidFill>
                  <a:srgbClr val="202A2F"/>
                </a:solidFill>
                <a:latin typeface="Aptos"/>
              </a:rPr>
              <a:t>Instance</a:t>
            </a:r>
          </a:p>
        </p:txBody>
      </p:sp>
      <p:sp>
        <p:nvSpPr>
          <p:cNvPr id="40" name="Rectangle 39"/>
          <p:cNvSpPr>
            <a:spLocks/>
          </p:cNvSpPr>
          <p:nvPr/>
        </p:nvSpPr>
        <p:spPr>
          <a:xfrm>
            <a:off x="1828800" y="2807208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/>
          <p:cNvSpPr/>
          <p:nvPr/>
        </p:nvSpPr>
        <p:spPr>
          <a:xfrm>
            <a:off x="1828800" y="2807208"/>
            <a:ext cx="2267712" cy="24688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901952" y="2843784"/>
            <a:ext cx="21214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725" b="0">
                <a:solidFill>
                  <a:srgbClr val="202A2F"/>
                </a:solidFill>
                <a:latin typeface="Consolas"/>
              </a:rPr>
              <a:t>irq_cov</a:t>
            </a:r>
          </a:p>
        </p:txBody>
      </p:sp>
      <p:sp>
        <p:nvSpPr>
          <p:cNvPr id="43" name="Rectangle 42"/>
          <p:cNvSpPr>
            <a:spLocks/>
          </p:cNvSpPr>
          <p:nvPr/>
        </p:nvSpPr>
        <p:spPr>
          <a:xfrm>
            <a:off x="4096512" y="2807208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/>
          <p:cNvSpPr>
            <a:spLocks/>
          </p:cNvSpPr>
          <p:nvPr/>
        </p:nvSpPr>
        <p:spPr>
          <a:xfrm>
            <a:off x="4096512" y="2807208"/>
            <a:ext cx="1636776" cy="24688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TextBox 44"/>
          <p:cNvSpPr txBox="1"/>
          <p:nvPr/>
        </p:nvSpPr>
        <p:spPr>
          <a:xfrm>
            <a:off x="4169664" y="2843784"/>
            <a:ext cx="1490472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>
                <a:solidFill>
                  <a:srgbClr val="202A2F"/>
                </a:solidFill>
                <a:latin typeface="Aptos"/>
              </a:rPr>
              <a:t>100%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" y="3054096"/>
            <a:ext cx="5257800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75488" y="3054096"/>
            <a:ext cx="1353312" cy="24688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3090672"/>
            <a:ext cx="12070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1">
                <a:solidFill>
                  <a:srgbClr val="202A2F"/>
                </a:solidFill>
                <a:latin typeface="Aptos"/>
              </a:rPr>
              <a:t>Coverpoint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828800" y="3054096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828800" y="3054096"/>
            <a:ext cx="2267712" cy="24688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901952" y="3090672"/>
            <a:ext cx="21214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>
                <a:solidFill>
                  <a:srgbClr val="202A2F"/>
                </a:solidFill>
                <a:latin typeface="Consolas"/>
              </a:rPr>
              <a:t>cp_interrupt_scenario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96512" y="3054096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096512" y="3054096"/>
            <a:ext cx="1636776" cy="24688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169664" y="3090672"/>
            <a:ext cx="1490472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5" b="0">
                <a:solidFill>
                  <a:srgbClr val="202A2F"/>
                </a:solidFill>
                <a:latin typeface="Aptos"/>
              </a:rPr>
              <a:t>12 / 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5488" y="3364992"/>
            <a:ext cx="5257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6B73"/>
                </a:solidFill>
                <a:latin typeface="Aptos"/>
              </a:rPr>
              <a:t>COVERED BINS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64407" y="3364992"/>
            <a:ext cx="246888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8646A"/>
                </a:solidFill>
                <a:latin typeface="Consolas"/>
              </a:rPr>
              <a:t>scenario_1 – scenario_12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" y="3639312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Consolas"/>
              </a:rPr>
              <a:t>scenario_1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08176" y="3639312"/>
            <a:ext cx="31089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Consolas"/>
              </a:rPr>
              <a:t>1×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92224" y="3639312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Consolas"/>
              </a:rPr>
              <a:t>scenario_2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24912" y="3639312"/>
            <a:ext cx="31089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Consolas"/>
              </a:rPr>
              <a:t>1×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08960" y="3639312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Consolas"/>
              </a:rPr>
              <a:t>scenario_3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41648" y="3639312"/>
            <a:ext cx="31089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Consolas"/>
              </a:rPr>
              <a:t>1×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25696" y="3639312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Consolas"/>
              </a:rPr>
              <a:t>scenario_4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58383" y="3639312"/>
            <a:ext cx="31089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Consolas"/>
              </a:rPr>
              <a:t>1×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" y="3895344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Consolas"/>
              </a:rPr>
              <a:t>scenario_5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08176" y="3895344"/>
            <a:ext cx="31089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Consolas"/>
              </a:rPr>
              <a:t>1×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92224" y="3895344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Consolas"/>
              </a:rPr>
              <a:t>scenario_6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24912" y="3895344"/>
            <a:ext cx="31089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Consolas"/>
              </a:rPr>
              <a:t>1×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108960" y="3895344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Consolas"/>
              </a:rPr>
              <a:t>scenario_7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41648" y="3895344"/>
            <a:ext cx="31089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Consolas"/>
              </a:rPr>
              <a:t>1×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25696" y="3895344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Consolas"/>
              </a:rPr>
              <a:t>scenario_8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358383" y="3895344"/>
            <a:ext cx="31089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Consolas"/>
              </a:rPr>
              <a:t>1×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5488" y="4151376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Consolas"/>
              </a:rPr>
              <a:t>scenario_9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08176" y="4151376"/>
            <a:ext cx="31089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Consolas"/>
              </a:rPr>
              <a:t>1×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92224" y="4151376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Consolas"/>
              </a:rPr>
              <a:t>scenario_10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24912" y="4151376"/>
            <a:ext cx="31089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Consolas"/>
              </a:rPr>
              <a:t>1×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08960" y="4151376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Consolas"/>
              </a:rPr>
              <a:t>scenario_11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041648" y="4151376"/>
            <a:ext cx="31089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Consolas"/>
              </a:rPr>
              <a:t>1×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25696" y="4151376"/>
            <a:ext cx="932688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Consolas"/>
              </a:rPr>
              <a:t>scenario_12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58383" y="4151376"/>
            <a:ext cx="310896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006B73"/>
                </a:solidFill>
                <a:latin typeface="Consolas"/>
              </a:rPr>
              <a:t>1×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75488" y="4535424"/>
            <a:ext cx="5257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6B73"/>
                </a:solidFill>
                <a:latin typeface="Aptos"/>
              </a:rPr>
              <a:t>DIRECTED BEHAVIOR EVIDENCE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64407" y="4535424"/>
            <a:ext cx="246888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8646A"/>
                </a:solidFill>
                <a:latin typeface="Consolas"/>
              </a:rPr>
              <a:t>semantics are separate from bin naming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75488" y="4782312"/>
            <a:ext cx="146304" cy="165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3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936" y="4821591"/>
            <a:ext cx="5102352" cy="15004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5" b="0">
                <a:solidFill>
                  <a:srgbClr val="202A2F"/>
                </a:solidFill>
                <a:latin typeface="Aptos"/>
              </a:rPr>
              <a:t>Reset and registered interrupt-enable behavior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75488" y="5010912"/>
            <a:ext cx="146304" cy="165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3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936" y="5050191"/>
            <a:ext cx="5102352" cy="15004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5" b="0">
                <a:solidFill>
                  <a:srgbClr val="202A2F"/>
                </a:solidFill>
                <a:latin typeface="Aptos"/>
              </a:rPr>
              <a:t>Rising-edge capture and sticky status retention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5488" y="5239512"/>
            <a:ext cx="146304" cy="165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3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30936" y="5278791"/>
            <a:ext cx="5102352" cy="15004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5" b="0">
                <a:solidFill>
                  <a:srgbClr val="202A2F"/>
                </a:solidFill>
                <a:latin typeface="Aptos"/>
              </a:rPr>
              <a:t>Masking, software clearing and held-high source behavior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5488" y="5468112"/>
            <a:ext cx="146304" cy="165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3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0936" y="5507391"/>
            <a:ext cx="5102352" cy="15004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5" b="0">
                <a:solidFill>
                  <a:srgbClr val="202A2F"/>
                </a:solidFill>
                <a:latin typeface="Aptos"/>
              </a:rPr>
              <a:t>Simultaneous sources and clear-priority handling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75488" y="5696712"/>
            <a:ext cx="146304" cy="165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3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" y="5735991"/>
            <a:ext cx="5102352" cy="15004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5" b="0">
                <a:solidFill>
                  <a:srgbClr val="202A2F"/>
                </a:solidFill>
                <a:latin typeface="Aptos"/>
              </a:rPr>
              <a:t>All 12 reported scenario bins reached their at-least-1 target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75488" y="6144768"/>
            <a:ext cx="5257800" cy="274320"/>
          </a:xfrm>
          <a:prstGeom prst="rect">
            <a:avLst/>
          </a:prstGeom>
          <a:solidFill>
            <a:srgbClr val="F0EDE6"/>
          </a:solidFill>
          <a:ln w="8890">
            <a:solidFill>
              <a:srgbClr val="F2A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12648" y="6199632"/>
            <a:ext cx="4983480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02A2F"/>
                </a:solidFill>
                <a:latin typeface="Aptos"/>
              </a:rPr>
              <a:t>XCRG scope: one coverpoint, 12 user-defined bins, zero uncovered.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54496" y="1252728"/>
            <a:ext cx="540410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6B73"/>
                </a:solidFill>
                <a:latin typeface="Aptos"/>
              </a:rPr>
              <a:t>GRP2 · TIME_MULTIPLEX_SCHEDULER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89720" y="1252728"/>
            <a:ext cx="246888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8646A"/>
                </a:solidFill>
                <a:latin typeface="Consolas"/>
              </a:rPr>
              <a:t>scheduler_coverage_group  /  scheduler_cov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91072" y="1554480"/>
            <a:ext cx="148132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6B73"/>
                </a:solidFill>
                <a:latin typeface="Aptos Display"/>
              </a:rPr>
              <a:t>100%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291072" y="1837943"/>
            <a:ext cx="1481328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6B73"/>
                </a:solidFill>
                <a:latin typeface="Aptos"/>
              </a:rPr>
              <a:t>GROUP SCORE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863840" y="1554480"/>
            <a:ext cx="9144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010144" y="1554480"/>
            <a:ext cx="12984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6B73"/>
                </a:solidFill>
                <a:latin typeface="Aptos Display"/>
              </a:rPr>
              <a:t>3 / 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10144" y="1837943"/>
            <a:ext cx="1298448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6B73"/>
                </a:solidFill>
                <a:latin typeface="Aptos"/>
              </a:rPr>
              <a:t>BINS COVERED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9418320" y="1554480"/>
            <a:ext cx="9144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9555480" y="1554480"/>
            <a:ext cx="129844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6B73"/>
                </a:solidFill>
                <a:latin typeface="Aptos Display"/>
              </a:rPr>
              <a:t>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555480" y="1837943"/>
            <a:ext cx="1298448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" b="1">
                <a:solidFill>
                  <a:srgbClr val="006B73"/>
                </a:solidFill>
                <a:latin typeface="Aptos"/>
              </a:rPr>
              <a:t>UNCOVERED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54496" y="1956816"/>
            <a:ext cx="5404104" cy="9144"/>
          </a:xfrm>
          <a:prstGeom prst="rect">
            <a:avLst/>
          </a:prstGeom>
          <a:solidFill>
            <a:srgbClr val="00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254496" y="2112264"/>
            <a:ext cx="540410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6B73"/>
                </a:solidFill>
                <a:latin typeface="Aptos"/>
              </a:rPr>
              <a:t>REPORT CONFIGURATION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189720" y="2112264"/>
            <a:ext cx="246888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8646A"/>
                </a:solidFill>
                <a:latin typeface="Consolas"/>
              </a:rPr>
              <a:t>Goal 100 · Weight 1 · At least 1 · Auto Bin Max 64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254496" y="2340864"/>
            <a:ext cx="1389888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6327648" y="2377440"/>
            <a:ext cx="1243584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ITEM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644383" y="2340864"/>
            <a:ext cx="9144" cy="219456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7644383" y="2340864"/>
            <a:ext cx="2304288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7717536" y="2377440"/>
            <a:ext cx="2157984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REPORT VALUE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948672" y="2340864"/>
            <a:ext cx="9144" cy="219456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9948672" y="2340864"/>
            <a:ext cx="1709928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0021824" y="2377440"/>
            <a:ext cx="1563624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RESULT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254496" y="2560320"/>
            <a:ext cx="5404104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6254496" y="2560320"/>
            <a:ext cx="1389888" cy="24688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6327648" y="2596896"/>
            <a:ext cx="12435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02A2F"/>
                </a:solidFill>
                <a:latin typeface="Aptos"/>
              </a:rPr>
              <a:t>Group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644383" y="2560320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7644383" y="2560320"/>
            <a:ext cx="2304288" cy="24688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717536" y="2596896"/>
            <a:ext cx="21579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02A2F"/>
                </a:solidFill>
                <a:latin typeface="Consolas"/>
              </a:rPr>
              <a:t>scheduler_coverage_group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948672" y="2560320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9948672" y="2560320"/>
            <a:ext cx="1709928" cy="24688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0021824" y="2596896"/>
            <a:ext cx="156362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02A2F"/>
                </a:solidFill>
                <a:latin typeface="Aptos"/>
              </a:rPr>
              <a:t>100%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54496" y="2807208"/>
            <a:ext cx="5404104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6254496" y="2807208"/>
            <a:ext cx="1389888" cy="24688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6327648" y="2843784"/>
            <a:ext cx="12435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02A2F"/>
                </a:solidFill>
                <a:latin typeface="Aptos"/>
              </a:rPr>
              <a:t>Instance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644383" y="2807208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7644383" y="2807208"/>
            <a:ext cx="2304288" cy="24688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7717536" y="2843784"/>
            <a:ext cx="21579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02A2F"/>
                </a:solidFill>
                <a:latin typeface="Consolas"/>
              </a:rPr>
              <a:t>scheduler_cov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9948672" y="2807208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9948672" y="2807208"/>
            <a:ext cx="1709928" cy="246888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0021824" y="2843784"/>
            <a:ext cx="156362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02A2F"/>
                </a:solidFill>
                <a:latin typeface="Aptos"/>
              </a:rPr>
              <a:t>100%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254496" y="3054096"/>
            <a:ext cx="5404104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6254496" y="3054096"/>
            <a:ext cx="1389888" cy="24688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6327648" y="3090672"/>
            <a:ext cx="12435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02A2F"/>
                </a:solidFill>
                <a:latin typeface="Aptos"/>
              </a:rPr>
              <a:t>Coverpoint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644383" y="3054096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7644383" y="3054096"/>
            <a:ext cx="2304288" cy="24688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7717536" y="3090672"/>
            <a:ext cx="21579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02A2F"/>
                </a:solidFill>
                <a:latin typeface="Consolas"/>
              </a:rPr>
              <a:t>cp_scheduler_scenario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948672" y="3054096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9948672" y="3054096"/>
            <a:ext cx="1709928" cy="246888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0021824" y="3090672"/>
            <a:ext cx="156362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202A2F"/>
                </a:solidFill>
                <a:latin typeface="Aptos"/>
              </a:rPr>
              <a:t>3 / 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54496" y="3364992"/>
            <a:ext cx="540410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6B73"/>
                </a:solidFill>
                <a:latin typeface="Aptos"/>
              </a:rPr>
              <a:t>COVERED BINS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9189720" y="3364992"/>
            <a:ext cx="246888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8646A"/>
                </a:solidFill>
                <a:latin typeface="Consolas"/>
              </a:rPr>
              <a:t>all bins met at-least-1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254496" y="3621024"/>
            <a:ext cx="2468880" cy="246888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6327648" y="3657600"/>
            <a:ext cx="2322576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BIN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8723376" y="3621024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8723376" y="3621024"/>
            <a:ext cx="960120" cy="246888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8796528" y="3657600"/>
            <a:ext cx="813816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HIT COUNT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683496" y="3621024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9683496" y="3621024"/>
            <a:ext cx="960120" cy="246888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9756648" y="3657600"/>
            <a:ext cx="813816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AT LEAST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643616" y="3621024"/>
            <a:ext cx="9144" cy="246888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10643616" y="3621024"/>
            <a:ext cx="1014984" cy="246888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10716768" y="3657600"/>
            <a:ext cx="86868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254496" y="3867912"/>
            <a:ext cx="5404104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6254496" y="3867912"/>
            <a:ext cx="2468880" cy="28346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6327648" y="3904488"/>
            <a:ext cx="2322576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02A2F"/>
                </a:solidFill>
                <a:latin typeface="Consolas"/>
              </a:rPr>
              <a:t>scenario_1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723376" y="3867912"/>
            <a:ext cx="9144" cy="28346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8723376" y="3867912"/>
            <a:ext cx="960120" cy="28346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8796528" y="3904488"/>
            <a:ext cx="813816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9683496" y="3867912"/>
            <a:ext cx="9144" cy="28346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9683496" y="3867912"/>
            <a:ext cx="960120" cy="28346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9756648" y="3904488"/>
            <a:ext cx="813816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643616" y="3867912"/>
            <a:ext cx="9144" cy="28346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10643616" y="3867912"/>
            <a:ext cx="1014984" cy="28346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10716768" y="3904488"/>
            <a:ext cx="8686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02A2F"/>
                </a:solidFill>
                <a:latin typeface="Aptos"/>
              </a:rPr>
              <a:t>Covered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254496" y="4151376"/>
            <a:ext cx="5404104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6254496" y="4151376"/>
            <a:ext cx="2468880" cy="28346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TextBox 169"/>
          <p:cNvSpPr txBox="1"/>
          <p:nvPr/>
        </p:nvSpPr>
        <p:spPr>
          <a:xfrm>
            <a:off x="6327648" y="4187952"/>
            <a:ext cx="2322576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02A2F"/>
                </a:solidFill>
                <a:latin typeface="Consolas"/>
              </a:rPr>
              <a:t>scenario_2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8723376" y="4151376"/>
            <a:ext cx="9144" cy="28346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8723376" y="4151376"/>
            <a:ext cx="960120" cy="28346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8796528" y="4187952"/>
            <a:ext cx="813816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9683496" y="4151376"/>
            <a:ext cx="9144" cy="28346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9683496" y="4151376"/>
            <a:ext cx="960120" cy="28346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9756648" y="4187952"/>
            <a:ext cx="813816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0643616" y="4151376"/>
            <a:ext cx="9144" cy="28346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643616" y="4151376"/>
            <a:ext cx="1014984" cy="28346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10716768" y="4187952"/>
            <a:ext cx="8686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02A2F"/>
                </a:solidFill>
                <a:latin typeface="Aptos"/>
              </a:rPr>
              <a:t>Covered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254496" y="4434840"/>
            <a:ext cx="5404104" cy="914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6254496" y="4434840"/>
            <a:ext cx="2468880" cy="28346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6327648" y="4471416"/>
            <a:ext cx="2322576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202A2F"/>
                </a:solidFill>
                <a:latin typeface="Consolas"/>
              </a:rPr>
              <a:t>scenario_3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8723376" y="4434840"/>
            <a:ext cx="9144" cy="28346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8723376" y="4434840"/>
            <a:ext cx="960120" cy="28346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8796528" y="4471416"/>
            <a:ext cx="813816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683496" y="4434840"/>
            <a:ext cx="9144" cy="28346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9683496" y="4434840"/>
            <a:ext cx="960120" cy="28346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9756648" y="4471416"/>
            <a:ext cx="813816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10643616" y="4434840"/>
            <a:ext cx="9144" cy="283464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10643616" y="4434840"/>
            <a:ext cx="1014984" cy="28346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10716768" y="4471416"/>
            <a:ext cx="868680" cy="21945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202A2F"/>
                </a:solidFill>
                <a:latin typeface="Aptos"/>
              </a:rPr>
              <a:t>Covered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254496" y="4700016"/>
            <a:ext cx="540410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6B73"/>
                </a:solidFill>
                <a:latin typeface="Aptos"/>
              </a:rPr>
              <a:t>DIRECTED PATH EVIDENCE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189720" y="4700016"/>
            <a:ext cx="246888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58646A"/>
                </a:solidFill>
                <a:latin typeface="Consolas"/>
              </a:rPr>
              <a:t>3 checked scheduler scenarios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254496" y="4956048"/>
            <a:ext cx="146304" cy="165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3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409944" y="4990755"/>
            <a:ext cx="5248656" cy="15004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5" b="0">
                <a:solidFill>
                  <a:srgbClr val="202A2F"/>
                </a:solidFill>
                <a:latin typeface="Aptos"/>
              </a:rPr>
              <a:t>Reset behavior and return to the scheduler idle path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254496" y="5175504"/>
            <a:ext cx="146304" cy="165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3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409944" y="5210211"/>
            <a:ext cx="5248656" cy="15004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5" b="0">
                <a:solidFill>
                  <a:srgbClr val="202A2F"/>
                </a:solidFill>
                <a:latin typeface="Aptos"/>
              </a:rPr>
              <a:t>Nominal schedule progression across image/phase processing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254496" y="5394960"/>
            <a:ext cx="146304" cy="165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3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409944" y="5429667"/>
            <a:ext cx="5248656" cy="15004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5" b="0">
                <a:solidFill>
                  <a:srgbClr val="202A2F"/>
                </a:solidFill>
                <a:latin typeface="Aptos"/>
              </a:rPr>
              <a:t>AXI write-error response handled through abort and failure paths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254496" y="5614416"/>
            <a:ext cx="146304" cy="165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3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09944" y="5649123"/>
            <a:ext cx="5248656" cy="15004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5" b="0">
                <a:solidFill>
                  <a:srgbClr val="202A2F"/>
                </a:solidFill>
                <a:latin typeface="Aptos"/>
              </a:rPr>
              <a:t>Coverage percentage reflects only cp_scheduler_scenario bins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254496" y="5833872"/>
            <a:ext cx="146304" cy="16543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83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409944" y="5868579"/>
            <a:ext cx="5248656" cy="15004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735" b="0">
                <a:solidFill>
                  <a:srgbClr val="202A2F"/>
                </a:solidFill>
                <a:latin typeface="Aptos"/>
              </a:rPr>
              <a:t>Directed scenarios do not establish RTL code-coverage completeness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254496" y="6144768"/>
            <a:ext cx="5404104" cy="274320"/>
          </a:xfrm>
          <a:prstGeom prst="rect">
            <a:avLst/>
          </a:prstGeom>
          <a:solidFill>
            <a:srgbClr val="F0EDE6"/>
          </a:solidFill>
          <a:ln w="8890">
            <a:solidFill>
              <a:srgbClr val="F2A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6400800" y="6199632"/>
            <a:ext cx="5102352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02A2F"/>
                </a:solidFill>
                <a:latin typeface="Aptos"/>
              </a:rPr>
              <a:t>XCRG scope: one coverpoint, 3 user-defined bins, zero uncovered.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66928"/>
            <a:ext cx="1120140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02A2F"/>
                </a:solidFill>
                <a:latin typeface="Aptos Display"/>
              </a:rPr>
              <a:t>Multi-Image Scheduler Architecture &amp; Testbench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1201400" cy="10972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37392" y="6492240"/>
            <a:ext cx="50292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6B73"/>
                </a:solidFill>
                <a:latin typeface="Aptos"/>
              </a:rPr>
              <a:t>D1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243584"/>
            <a:ext cx="731520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B73"/>
                </a:solidFill>
                <a:latin typeface="Aptos"/>
              </a:rPr>
              <a:t>ARCHITECTURE / WAVEFORM REGION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6088" y="1243584"/>
            <a:ext cx="25146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8646A"/>
                </a:solidFill>
                <a:latin typeface="Consolas"/>
              </a:rPr>
              <a:t>reserved for QSPI → DMA → JTAG sequencing + FSM transitions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62072"/>
            <a:ext cx="6163056" cy="32918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6B73"/>
                </a:solidFill>
                <a:latin typeface="Aptos Display"/>
              </a:rPr>
              <a:t>DIAGRAM / WAVEFORM PLACEHOLDER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73552"/>
            <a:ext cx="5797296" cy="5943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8646A"/>
                </a:solidFill>
                <a:latin typeface="Aptos"/>
              </a:rPr>
              <a:t>Recommended content: QSPI metadata fetch → AXI-Stream payload delivery → JTAG IR/DR scan → TARGET_RUNNING, aligned to phase_index 0 / 1 / 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1243584"/>
            <a:ext cx="10972" cy="5102352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93024" y="1243584"/>
            <a:ext cx="347472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B73"/>
                </a:solidFill>
                <a:latin typeface="Aptos"/>
              </a:rPr>
              <a:t>VERIFICATION SCOPE &amp; TEST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1527048"/>
            <a:ext cx="10972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1527048"/>
            <a:ext cx="333756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202A2F"/>
                </a:solidFill>
                <a:latin typeface="Aptos"/>
              </a:rPr>
              <a:t>Testbench: tb_multi_image_schedule.sv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1737360"/>
            <a:ext cx="109728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1737360"/>
            <a:ext cx="3337560" cy="3108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Aptos"/>
              </a:rPr>
              <a:t>Model: pin-level SDR Quad-SPI NOR (qspi_nor_multi_image_model)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3024" y="2075688"/>
            <a:ext cx="109728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075688"/>
            <a:ext cx="33375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202A2F"/>
                </a:solidFill>
                <a:latin typeface="Aptos"/>
              </a:rPr>
              <a:t>0xEB Fast Read Quad I/O · 24-bit address · 2 dummy cycles · low nibble then high nibble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578608"/>
            <a:ext cx="347472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B73"/>
                </a:solidFill>
                <a:latin typeface="Aptos"/>
              </a:rPr>
              <a:t>MULTI-IMAGE FLASH ALLOCATION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834640"/>
            <a:ext cx="10972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2834640"/>
            <a:ext cx="333756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Aptos"/>
              </a:rPr>
              <a:t>Flash: 256 KB (FLASH_BYTES = 262144)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93024" y="3054096"/>
            <a:ext cx="109728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6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3054096"/>
            <a:ext cx="333756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65" b="0">
                <a:solidFill>
                  <a:srgbClr val="202A2F"/>
                </a:solidFill>
                <a:latin typeface="Aptos"/>
              </a:rPr>
              <a:t>Metadata @ 0x0000_0000 · 4-word fpga_schedule_entry_t: offset, size, IDCODE, duration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4" y="3502152"/>
            <a:ext cx="713232" cy="53949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93024" y="3502152"/>
            <a:ext cx="713232" cy="5394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Consolas"/>
              </a:rPr>
              <a:t>IMAGE 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3502152"/>
            <a:ext cx="26517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202A2F"/>
                </a:solidFill>
                <a:latin typeface="Consolas"/>
              </a:rPr>
              <a:t>0x0000_1000  ·  72 bits / 9 bytes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3685032"/>
            <a:ext cx="26517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5" b="0">
                <a:solidFill>
                  <a:srgbClr val="58646A"/>
                </a:solidFill>
                <a:latin typeface="Consolas"/>
              </a:rPr>
              <a:t>11 22 33 44 55 66 77 88 99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15984" y="3858768"/>
            <a:ext cx="2651760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006B73"/>
                </a:solidFill>
                <a:latin typeface="Consolas"/>
              </a:rPr>
              <a:t>ID 0x1234_5678  ·  100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93024" y="4114800"/>
            <a:ext cx="713232" cy="53949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93024" y="4114800"/>
            <a:ext cx="713232" cy="5394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Consolas"/>
              </a:rPr>
              <a:t>IMAGE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15984" y="4114800"/>
            <a:ext cx="26517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202A2F"/>
                </a:solidFill>
                <a:latin typeface="Consolas"/>
              </a:rPr>
              <a:t>0x0001_0000  ·  72 bits / 9 bytes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15984" y="4297680"/>
            <a:ext cx="26517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5" b="0">
                <a:solidFill>
                  <a:srgbClr val="58646A"/>
                </a:solidFill>
                <a:latin typeface="Consolas"/>
              </a:rPr>
              <a:t>AA BB CC DD EE 12 34 56 78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15984" y="4471416"/>
            <a:ext cx="2651760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006B73"/>
                </a:solidFill>
                <a:latin typeface="Consolas"/>
              </a:rPr>
              <a:t>ID 0x1234_5678  ·  100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93024" y="4727448"/>
            <a:ext cx="713232" cy="53949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93024" y="4727448"/>
            <a:ext cx="713232" cy="53949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FFFFF"/>
                </a:solidFill>
                <a:latin typeface="Consolas"/>
              </a:rPr>
              <a:t>IMAGE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15984" y="4727448"/>
            <a:ext cx="265176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202A2F"/>
                </a:solidFill>
                <a:latin typeface="Consolas"/>
              </a:rPr>
              <a:t>0x0002_0000  ·  72 bits / 9 bytes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15984" y="4910328"/>
            <a:ext cx="265176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5" b="0">
                <a:solidFill>
                  <a:srgbClr val="58646A"/>
                </a:solidFill>
                <a:latin typeface="Consolas"/>
              </a:rPr>
              <a:t>DE AD BE EF CA FE 00 01 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5084064"/>
            <a:ext cx="2651760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30" b="1">
                <a:solidFill>
                  <a:srgbClr val="006B73"/>
                </a:solidFill>
                <a:latin typeface="Consolas"/>
              </a:rPr>
              <a:t>ID 0x1234_5678  ·  100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4" y="5404104"/>
            <a:ext cx="347472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B73"/>
                </a:solidFill>
                <a:latin typeface="Aptos"/>
              </a:rPr>
              <a:t>EXECUTION &amp; SCHEDULING 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4" y="5650992"/>
            <a:ext cx="10972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0184" y="5650992"/>
            <a:ext cx="33375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Aptos"/>
              </a:rPr>
              <a:t>JTAG delivery is streamed LSB-first.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4" y="5852160"/>
            <a:ext cx="10972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90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0184" y="5852160"/>
            <a:ext cx="3337560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>
                <a:solidFill>
                  <a:srgbClr val="202A2F"/>
                </a:solidFill>
                <a:latin typeface="Aptos"/>
              </a:rPr>
              <a:t>Phases execute image_0 → image_1 → image_2.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6053328"/>
            <a:ext cx="109728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775" b="1">
                <a:solidFill>
                  <a:srgbClr val="006B73"/>
                </a:solidFill>
                <a:latin typeface="Aptos"/>
              </a:rPr>
              <a:t>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0184" y="6053328"/>
            <a:ext cx="3337560" cy="25603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75" b="0">
                <a:solidFill>
                  <a:srgbClr val="202A2F"/>
                </a:solidFill>
                <a:latin typeface="Aptos"/>
              </a:rPr>
              <a:t>INVALID_METADATA hook supports zero-length bitstream error injection.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B2E9BC6-38F7-D125-88D3-9ABD6D55D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257" y="1737360"/>
            <a:ext cx="7592802" cy="440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41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623262"/>
            <a:ext cx="11201400" cy="326243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202A2F"/>
                </a:solidFill>
                <a:latin typeface="Aptos Display"/>
              </a:rPr>
              <a:t>Functional Coverage Analysis &amp; Gap Breakdown</a:t>
            </a:r>
            <a:r>
              <a:rPr lang="en-US" sz="2000" b="1" dirty="0">
                <a:solidFill>
                  <a:srgbClr val="202A2F"/>
                </a:solidFill>
                <a:latin typeface="Aptos Display"/>
              </a:rPr>
              <a:t>: Basic Functionality Test</a:t>
            </a:r>
            <a:endParaRPr sz="2000" b="1" dirty="0">
              <a:solidFill>
                <a:srgbClr val="202A2F"/>
              </a:solidFill>
              <a:latin typeface="Aptos Display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1201400" cy="10972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37392" y="6492240"/>
            <a:ext cx="50292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6B73"/>
                </a:solidFill>
                <a:latin typeface="Aptos"/>
              </a:rPr>
              <a:t>D2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225296"/>
            <a:ext cx="11192256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B73"/>
                </a:solidFill>
                <a:latin typeface="Aptos"/>
              </a:rPr>
              <a:t>COVERGROUP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53144" y="1225296"/>
            <a:ext cx="25146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8646A"/>
                </a:solidFill>
                <a:latin typeface="Consolas"/>
              </a:rPr>
              <a:t>$unit_axi_lite_write_master_sv_357825715::reconfig_coverage::cg_scheduler_states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44752"/>
            <a:ext cx="58521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90" b="1">
                <a:solidFill>
                  <a:srgbClr val="202A2F"/>
                </a:solidFill>
                <a:latin typeface="Consolas"/>
              </a:rPr>
              <a:t>Instance: this.cg_scheduler_states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444752"/>
            <a:ext cx="5358384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5" b="0">
                <a:solidFill>
                  <a:srgbClr val="58646A"/>
                </a:solidFill>
                <a:latin typeface="Consolas"/>
              </a:rPr>
              <a:t>Source: C:/ASIC_Verification_Lab_Exps/fpga_programme/tb/tb_multi_image_schedule.sv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" y="1719072"/>
            <a:ext cx="1426464" cy="53035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" y="1746504"/>
            <a:ext cx="1426464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 Display"/>
              </a:rPr>
              <a:t>73.33%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029968"/>
            <a:ext cx="1426464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FFFFFF"/>
                </a:solidFill>
                <a:latin typeface="Aptos"/>
              </a:rPr>
              <a:t>GROUP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1746504"/>
            <a:ext cx="118872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6B73"/>
                </a:solidFill>
                <a:latin typeface="Aptos Display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029968"/>
            <a:ext cx="11887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006B73"/>
                </a:solidFill>
                <a:latin typeface="Aptos"/>
              </a:rPr>
              <a:t>TARGET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1746504"/>
            <a:ext cx="118872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6B73"/>
                </a:solidFill>
                <a:latin typeface="Aptos Display"/>
              </a:rPr>
              <a:t>64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8144" y="2029968"/>
            <a:ext cx="11887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006B73"/>
                </a:solidFill>
                <a:latin typeface="Aptos"/>
              </a:rPr>
              <a:t>AUTO BIN MAX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1746504"/>
            <a:ext cx="1188720" cy="2651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6B73"/>
                </a:solidFill>
                <a:latin typeface="Aptos Display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029968"/>
            <a:ext cx="1188720" cy="1097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80" b="1">
                <a:solidFill>
                  <a:srgbClr val="006B73"/>
                </a:solidFill>
                <a:latin typeface="Aptos"/>
              </a:rPr>
              <a:t>AT LEAST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350008"/>
            <a:ext cx="534924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B73"/>
                </a:solidFill>
                <a:latin typeface="Aptos"/>
              </a:rPr>
              <a:t>1 · INSTANCE CATEGORY SUMMARY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2578608"/>
            <a:ext cx="1234440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2596896"/>
            <a:ext cx="116128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Aptos"/>
              </a:rPr>
              <a:t>CATEGORY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09928" y="2578608"/>
            <a:ext cx="868680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46504" y="2596896"/>
            <a:ext cx="79552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Aptos"/>
              </a:rPr>
              <a:t>CP / 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78608" y="2578608"/>
            <a:ext cx="822960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15184" y="2596896"/>
            <a:ext cx="7498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Aptos"/>
              </a:rPr>
              <a:t>EXP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1568" y="2578608"/>
            <a:ext cx="822960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38144" y="2596896"/>
            <a:ext cx="7498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Aptos"/>
              </a:rPr>
              <a:t>UNCOV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2578608"/>
            <a:ext cx="822960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61104" y="2596896"/>
            <a:ext cx="7498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Aptos"/>
              </a:rPr>
              <a:t>COV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7488" y="2578608"/>
            <a:ext cx="777240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84064" y="2596896"/>
            <a:ext cx="70408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FFFFFF"/>
                </a:solidFill>
                <a:latin typeface="Aptos"/>
              </a:rPr>
              <a:t>AVG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2798063"/>
            <a:ext cx="123444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2064" y="2816351"/>
            <a:ext cx="116128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202A2F"/>
                </a:solidFill>
                <a:latin typeface="Aptos"/>
              </a:rPr>
              <a:t>Variables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09928" y="2798063"/>
            <a:ext cx="86868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46504" y="2816351"/>
            <a:ext cx="79552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78608" y="2798063"/>
            <a:ext cx="82296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15184" y="2816351"/>
            <a:ext cx="7498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8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01568" y="2798063"/>
            <a:ext cx="82296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438144" y="2816351"/>
            <a:ext cx="7498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24528" y="2798063"/>
            <a:ext cx="82296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61104" y="2816351"/>
            <a:ext cx="7498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47488" y="2798063"/>
            <a:ext cx="77724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84064" y="2816351"/>
            <a:ext cx="70408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90.00%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5488" y="3017520"/>
            <a:ext cx="1234440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12064" y="3035808"/>
            <a:ext cx="116128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202A2F"/>
                </a:solidFill>
                <a:latin typeface="Aptos"/>
              </a:rPr>
              <a:t>Crosses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09928" y="3017520"/>
            <a:ext cx="868680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746504" y="3035808"/>
            <a:ext cx="79552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78608" y="3017520"/>
            <a:ext cx="822960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615184" y="3035808"/>
            <a:ext cx="7498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15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01568" y="3017520"/>
            <a:ext cx="822960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438144" y="3035808"/>
            <a:ext cx="7498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24528" y="3017520"/>
            <a:ext cx="822960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61104" y="3035808"/>
            <a:ext cx="7498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47488" y="3017520"/>
            <a:ext cx="777240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84064" y="3035808"/>
            <a:ext cx="70408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40.00%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75488" y="3236976"/>
            <a:ext cx="123444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12064" y="3255264"/>
            <a:ext cx="116128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202A2F"/>
                </a:solidFill>
                <a:latin typeface="Aptos"/>
              </a:rPr>
              <a:t>Overall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709928" y="3236976"/>
            <a:ext cx="86868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746504" y="3255264"/>
            <a:ext cx="79552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78608" y="3236976"/>
            <a:ext cx="82296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615184" y="3255264"/>
            <a:ext cx="7498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23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401568" y="3236976"/>
            <a:ext cx="82296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438144" y="3255264"/>
            <a:ext cx="7498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10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24528" y="3236976"/>
            <a:ext cx="82296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61104" y="3255264"/>
            <a:ext cx="7498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13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47488" y="3236976"/>
            <a:ext cx="77724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84064" y="3255264"/>
            <a:ext cx="70408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202A2F"/>
                </a:solidFill>
                <a:latin typeface="Aptos"/>
              </a:rPr>
              <a:t>73.33%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89904" y="2350008"/>
            <a:ext cx="557784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B73"/>
                </a:solidFill>
                <a:latin typeface="Aptos"/>
              </a:rPr>
              <a:t>2 · COVER POINT EXECUTION DETAILS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89904" y="2578608"/>
            <a:ext cx="2057400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126480" y="2596896"/>
            <a:ext cx="198424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FFFFF"/>
                </a:solidFill>
                <a:latin typeface="Aptos"/>
              </a:rPr>
              <a:t>COVER POINT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47304" y="2578608"/>
            <a:ext cx="594360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183879" y="2596896"/>
            <a:ext cx="5212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FFFFF"/>
                </a:solidFill>
                <a:latin typeface="Aptos"/>
              </a:rPr>
              <a:t>EXP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741664" y="2578608"/>
            <a:ext cx="667512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778240" y="2596896"/>
            <a:ext cx="59436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FFFFF"/>
                </a:solidFill>
                <a:latin typeface="Aptos"/>
              </a:rPr>
              <a:t>UNCOV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09176" y="2578608"/>
            <a:ext cx="658368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445752" y="2596896"/>
            <a:ext cx="585216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FFFFF"/>
                </a:solidFill>
                <a:latin typeface="Aptos"/>
              </a:rPr>
              <a:t>COV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67544" y="2578608"/>
            <a:ext cx="713232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0104120" y="2596896"/>
            <a:ext cx="64008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FFFFF"/>
                </a:solidFill>
                <a:latin typeface="Aptos"/>
              </a:rPr>
              <a:t>HIT 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780776" y="2578608"/>
            <a:ext cx="438912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817352" y="2596896"/>
            <a:ext cx="365759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FFFFF"/>
                </a:solidFill>
                <a:latin typeface="Aptos"/>
              </a:rPr>
              <a:t>WT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219688" y="2578608"/>
            <a:ext cx="448056" cy="219456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256264" y="2596896"/>
            <a:ext cx="374904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FFFFFF"/>
                </a:solidFill>
                <a:latin typeface="Aptos"/>
              </a:rPr>
              <a:t>GOAL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9904" y="2798063"/>
            <a:ext cx="205740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126480" y="2816351"/>
            <a:ext cx="198424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202A2F"/>
                </a:solidFill>
                <a:latin typeface="Consolas"/>
              </a:rPr>
              <a:t>cp_state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47304" y="2798063"/>
            <a:ext cx="59436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183879" y="2816351"/>
            <a:ext cx="5212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741664" y="2798063"/>
            <a:ext cx="667512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8778240" y="2816351"/>
            <a:ext cx="59436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409176" y="2798063"/>
            <a:ext cx="658368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445752" y="2816351"/>
            <a:ext cx="585216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4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067544" y="2798063"/>
            <a:ext cx="713232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104120" y="2816351"/>
            <a:ext cx="64008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80.00%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780776" y="2798063"/>
            <a:ext cx="438912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817352" y="2816351"/>
            <a:ext cx="365759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1219688" y="2798063"/>
            <a:ext cx="448056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1256264" y="2816351"/>
            <a:ext cx="374904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100%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89904" y="3017520"/>
            <a:ext cx="2057400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6126480" y="3035808"/>
            <a:ext cx="198424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202A2F"/>
                </a:solidFill>
                <a:latin typeface="Consolas"/>
              </a:rPr>
              <a:t>cp_phase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147304" y="3017520"/>
            <a:ext cx="594360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8183879" y="3035808"/>
            <a:ext cx="5212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3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741664" y="3017520"/>
            <a:ext cx="667512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778240" y="3035808"/>
            <a:ext cx="59436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409176" y="3017520"/>
            <a:ext cx="658368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445752" y="3035808"/>
            <a:ext cx="585216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67544" y="3017520"/>
            <a:ext cx="713232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10104120" y="3035808"/>
            <a:ext cx="64008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100.00%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10780776" y="3017520"/>
            <a:ext cx="438912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817352" y="3035808"/>
            <a:ext cx="365759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1219688" y="3017520"/>
            <a:ext cx="448056" cy="219456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1256264" y="3035808"/>
            <a:ext cx="374904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100%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089904" y="3236976"/>
            <a:ext cx="205740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126480" y="3255264"/>
            <a:ext cx="198424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1">
                <a:solidFill>
                  <a:srgbClr val="202A2F"/>
                </a:solidFill>
                <a:latin typeface="Consolas"/>
              </a:rPr>
              <a:t>cp_state×cp_phase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147304" y="3236976"/>
            <a:ext cx="594360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183879" y="3255264"/>
            <a:ext cx="521208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15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741664" y="3236976"/>
            <a:ext cx="667512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8778240" y="3255264"/>
            <a:ext cx="59436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9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9409176" y="3236976"/>
            <a:ext cx="658368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9445752" y="3255264"/>
            <a:ext cx="585216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0067544" y="3236976"/>
            <a:ext cx="713232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10104120" y="3255264"/>
            <a:ext cx="640080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40.00%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780776" y="3236976"/>
            <a:ext cx="438912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10817352" y="3255264"/>
            <a:ext cx="365759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1219688" y="3236976"/>
            <a:ext cx="448056" cy="219456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1256264" y="3255264"/>
            <a:ext cx="374904" cy="1920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10" b="0">
                <a:solidFill>
                  <a:srgbClr val="202A2F"/>
                </a:solidFill>
                <a:latin typeface="Aptos"/>
              </a:rPr>
              <a:t>100%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475488" y="3602736"/>
            <a:ext cx="534924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B73"/>
                </a:solidFill>
                <a:latin typeface="Aptos"/>
              </a:rPr>
              <a:t>3 · BIN HIT COUNTS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75488" y="3822191"/>
            <a:ext cx="932688" cy="21031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512064" y="3840479"/>
            <a:ext cx="859536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FFFFFF"/>
                </a:solidFill>
                <a:latin typeface="Aptos"/>
              </a:rPr>
              <a:t>POINT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408176" y="3822191"/>
            <a:ext cx="1545336" cy="21031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1444752" y="3840479"/>
            <a:ext cx="14721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FFFFFF"/>
                </a:solidFill>
                <a:latin typeface="Aptos"/>
              </a:rPr>
              <a:t>BIN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2953512" y="3822191"/>
            <a:ext cx="786384" cy="21031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2990088" y="3840479"/>
            <a:ext cx="713232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3739896" y="3822191"/>
            <a:ext cx="731520" cy="21031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3776472" y="3840479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FFFFFF"/>
                </a:solidFill>
                <a:latin typeface="Aptos"/>
              </a:rPr>
              <a:t>HITS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471416" y="3822191"/>
            <a:ext cx="822960" cy="21031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4507992" y="3840479"/>
            <a:ext cx="7498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FFFFFF"/>
                </a:solidFill>
                <a:latin typeface="Aptos"/>
              </a:rPr>
              <a:t>MIN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75488" y="4032504"/>
            <a:ext cx="932688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512064" y="4050791"/>
            <a:ext cx="859536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202A2F"/>
                </a:solidFill>
                <a:latin typeface="Consolas"/>
              </a:rPr>
              <a:t>cp_state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408176" y="4032504"/>
            <a:ext cx="1545336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444752" y="4050791"/>
            <a:ext cx="14721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Consolas"/>
              </a:rPr>
              <a:t>IDLE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953512" y="4032504"/>
            <a:ext cx="786384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2990088" y="4050791"/>
            <a:ext cx="713232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739896" y="4032504"/>
            <a:ext cx="731520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3776472" y="4050791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6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4471416" y="4032504"/>
            <a:ext cx="822960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507992" y="4050791"/>
            <a:ext cx="7498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75488" y="4242816"/>
            <a:ext cx="932688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512064" y="4261104"/>
            <a:ext cx="859536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202A2F"/>
                </a:solidFill>
                <a:latin typeface="Consolas"/>
              </a:rPr>
              <a:t>cp_state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408176" y="4242816"/>
            <a:ext cx="1545336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444752" y="4261104"/>
            <a:ext cx="14721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Consolas"/>
              </a:rPr>
              <a:t>WAIT_FLASH_METADATA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953512" y="4242816"/>
            <a:ext cx="786384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2990088" y="4261104"/>
            <a:ext cx="713232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739896" y="4242816"/>
            <a:ext cx="731520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3776472" y="4261104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237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471416" y="4242816"/>
            <a:ext cx="822960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4507992" y="4261104"/>
            <a:ext cx="7498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75488" y="4453128"/>
            <a:ext cx="932688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512064" y="4471416"/>
            <a:ext cx="859536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202A2F"/>
                </a:solidFill>
                <a:latin typeface="Consolas"/>
              </a:rPr>
              <a:t>cp_state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1408176" y="4453128"/>
            <a:ext cx="1545336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444752" y="4471416"/>
            <a:ext cx="14721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Consolas"/>
              </a:rPr>
              <a:t>TARGET_RUNNING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953512" y="4453128"/>
            <a:ext cx="786384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2990088" y="4471416"/>
            <a:ext cx="713232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739896" y="4453128"/>
            <a:ext cx="731520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3776472" y="4471416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1,812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4471416" y="4453128"/>
            <a:ext cx="822960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4507992" y="4471416"/>
            <a:ext cx="7498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75488" y="4663440"/>
            <a:ext cx="932688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512064" y="4681728"/>
            <a:ext cx="859536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202A2F"/>
                </a:solidFill>
                <a:latin typeface="Consolas"/>
              </a:rPr>
              <a:t>cp_state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1408176" y="4663440"/>
            <a:ext cx="1545336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1444752" y="4681728"/>
            <a:ext cx="14721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Consolas"/>
              </a:rPr>
              <a:t>DONE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953512" y="4663440"/>
            <a:ext cx="786384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2990088" y="4681728"/>
            <a:ext cx="713232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3739896" y="4663440"/>
            <a:ext cx="731520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3776472" y="4681728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4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4471416" y="4663440"/>
            <a:ext cx="822960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4507992" y="4681728"/>
            <a:ext cx="7498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475488" y="4873752"/>
            <a:ext cx="932688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512064" y="4892040"/>
            <a:ext cx="859536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202A2F"/>
                </a:solidFill>
                <a:latin typeface="Consolas"/>
              </a:rPr>
              <a:t>cp_state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408176" y="4873752"/>
            <a:ext cx="1545336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1444752" y="4892040"/>
            <a:ext cx="14721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Consolas"/>
              </a:rPr>
              <a:t>FAILED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953512" y="4873752"/>
            <a:ext cx="786384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2990088" y="4892040"/>
            <a:ext cx="713232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A54A42"/>
                </a:solidFill>
                <a:latin typeface="Aptos"/>
              </a:rPr>
              <a:t>Uncovered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3739896" y="4873752"/>
            <a:ext cx="731520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3776472" y="4892040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0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471416" y="4873752"/>
            <a:ext cx="822960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4507992" y="4892040"/>
            <a:ext cx="7498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75488" y="5084064"/>
            <a:ext cx="932688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512064" y="5102352"/>
            <a:ext cx="859536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202A2F"/>
                </a:solidFill>
                <a:latin typeface="Consolas"/>
              </a:rPr>
              <a:t>cp_phase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1408176" y="5084064"/>
            <a:ext cx="1545336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1444752" y="5102352"/>
            <a:ext cx="14721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Consolas"/>
              </a:rPr>
              <a:t>image_0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953512" y="5084064"/>
            <a:ext cx="786384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2990088" y="5102352"/>
            <a:ext cx="713232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739896" y="5084064"/>
            <a:ext cx="731520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3776472" y="5102352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2,236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471416" y="5084064"/>
            <a:ext cx="822960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4507992" y="5102352"/>
            <a:ext cx="7498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475488" y="5294376"/>
            <a:ext cx="932688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512064" y="5312664"/>
            <a:ext cx="859536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202A2F"/>
                </a:solidFill>
                <a:latin typeface="Consolas"/>
              </a:rPr>
              <a:t>cp_phase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408176" y="5294376"/>
            <a:ext cx="1545336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444752" y="5312664"/>
            <a:ext cx="14721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Consolas"/>
              </a:rPr>
              <a:t>image_1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953512" y="5294376"/>
            <a:ext cx="786384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2990088" y="5312664"/>
            <a:ext cx="713232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739896" y="5294376"/>
            <a:ext cx="731520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TextBox 202"/>
          <p:cNvSpPr txBox="1"/>
          <p:nvPr/>
        </p:nvSpPr>
        <p:spPr>
          <a:xfrm>
            <a:off x="3776472" y="5312664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2,677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471416" y="5294376"/>
            <a:ext cx="822960" cy="21031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4507992" y="5312664"/>
            <a:ext cx="7498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475488" y="5504688"/>
            <a:ext cx="932688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TextBox 206"/>
          <p:cNvSpPr txBox="1"/>
          <p:nvPr/>
        </p:nvSpPr>
        <p:spPr>
          <a:xfrm>
            <a:off x="512064" y="5522976"/>
            <a:ext cx="859536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1">
                <a:solidFill>
                  <a:srgbClr val="202A2F"/>
                </a:solidFill>
                <a:latin typeface="Consolas"/>
              </a:rPr>
              <a:t>cp_phase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1408176" y="5504688"/>
            <a:ext cx="1545336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TextBox 208"/>
          <p:cNvSpPr txBox="1"/>
          <p:nvPr/>
        </p:nvSpPr>
        <p:spPr>
          <a:xfrm>
            <a:off x="1444752" y="5522976"/>
            <a:ext cx="1472184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Consolas"/>
              </a:rPr>
              <a:t>image_2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2953512" y="5504688"/>
            <a:ext cx="786384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2990088" y="5522976"/>
            <a:ext cx="713232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3739896" y="5504688"/>
            <a:ext cx="731520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3776472" y="5522976"/>
            <a:ext cx="65836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1,631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4471416" y="5504688"/>
            <a:ext cx="822960" cy="21031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4507992" y="5522976"/>
            <a:ext cx="749808" cy="1828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>
                <a:solidFill>
                  <a:srgbClr val="202A2F"/>
                </a:solidFill>
                <a:latin typeface="Aptos"/>
              </a:rPr>
              <a:t>1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089904" y="3602736"/>
            <a:ext cx="5577840" cy="155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006B73"/>
                </a:solidFill>
                <a:latin typeface="Aptos"/>
              </a:rPr>
              <a:t>4 · CROSS COVERAGE MATRIX · CP_STATE × CP_PHASE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9153144" y="3602736"/>
            <a:ext cx="2514600" cy="14630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>
                <a:solidFill>
                  <a:srgbClr val="58646A"/>
                </a:solidFill>
                <a:latin typeface="Consolas"/>
              </a:rPr>
              <a:t>6 covered · 9 uncovered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089904" y="3822191"/>
            <a:ext cx="1901952" cy="192024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TextBox 218"/>
          <p:cNvSpPr txBox="1"/>
          <p:nvPr/>
        </p:nvSpPr>
        <p:spPr>
          <a:xfrm>
            <a:off x="6126480" y="3840479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1">
                <a:solidFill>
                  <a:srgbClr val="FFFFFF"/>
                </a:solidFill>
                <a:latin typeface="Aptos"/>
              </a:rPr>
              <a:t>STATE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991856" y="3822191"/>
            <a:ext cx="1097280" cy="192024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8028431" y="3840479"/>
            <a:ext cx="1024127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1">
                <a:solidFill>
                  <a:srgbClr val="FFFFFF"/>
                </a:solidFill>
                <a:latin typeface="Aptos"/>
              </a:rPr>
              <a:t>PHASE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9089136" y="3822191"/>
            <a:ext cx="804672" cy="192024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9125711" y="3840479"/>
            <a:ext cx="73152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9893808" y="3822191"/>
            <a:ext cx="713232" cy="192024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9930384" y="3840479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1">
                <a:solidFill>
                  <a:srgbClr val="FFFFFF"/>
                </a:solidFill>
                <a:latin typeface="Aptos"/>
              </a:rPr>
              <a:t>HITS</a:t>
            </a:r>
          </a:p>
        </p:txBody>
      </p:sp>
      <p:sp>
        <p:nvSpPr>
          <p:cNvPr id="226" name="Rectangle 225"/>
          <p:cNvSpPr/>
          <p:nvPr/>
        </p:nvSpPr>
        <p:spPr>
          <a:xfrm>
            <a:off x="6089904" y="4014215"/>
            <a:ext cx="1901952" cy="19202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6126480" y="4032503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1">
                <a:solidFill>
                  <a:srgbClr val="202A2F"/>
                </a:solidFill>
                <a:latin typeface="Consolas"/>
              </a:rPr>
              <a:t>IDLE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7991856" y="4014215"/>
            <a:ext cx="1097280" cy="19202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8028431" y="4032503"/>
            <a:ext cx="1024127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202A2F"/>
                </a:solidFill>
                <a:latin typeface="Consolas"/>
              </a:rPr>
              <a:t>image_0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9089136" y="4014215"/>
            <a:ext cx="804672" cy="19202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9125711" y="4032503"/>
            <a:ext cx="73152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9893808" y="4014215"/>
            <a:ext cx="713232" cy="19202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9930384" y="4032503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202A2F"/>
                </a:solidFill>
                <a:latin typeface="Aptos"/>
              </a:rPr>
              <a:t>6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089904" y="4206240"/>
            <a:ext cx="1901952" cy="19202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6126480" y="4224527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1">
                <a:solidFill>
                  <a:srgbClr val="202A2F"/>
                </a:solidFill>
                <a:latin typeface="Consolas"/>
              </a:rPr>
              <a:t>WAIT_FLASH_METADATA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7991856" y="4206240"/>
            <a:ext cx="1097280" cy="19202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8028431" y="4224527"/>
            <a:ext cx="1024127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202A2F"/>
                </a:solidFill>
                <a:latin typeface="Consolas"/>
              </a:rPr>
              <a:t>image_0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9089136" y="4206240"/>
            <a:ext cx="804672" cy="19202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9125711" y="4224527"/>
            <a:ext cx="73152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9893808" y="4206240"/>
            <a:ext cx="713232" cy="19202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TextBox 240"/>
          <p:cNvSpPr txBox="1"/>
          <p:nvPr/>
        </p:nvSpPr>
        <p:spPr>
          <a:xfrm>
            <a:off x="9930384" y="4224527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202A2F"/>
                </a:solidFill>
                <a:latin typeface="Aptos"/>
              </a:rPr>
              <a:t>237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6089904" y="4398264"/>
            <a:ext cx="1901952" cy="19202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TextBox 242"/>
          <p:cNvSpPr txBox="1"/>
          <p:nvPr/>
        </p:nvSpPr>
        <p:spPr>
          <a:xfrm>
            <a:off x="6126480" y="4416551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1">
                <a:solidFill>
                  <a:srgbClr val="202A2F"/>
                </a:solidFill>
                <a:latin typeface="Consolas"/>
              </a:rPr>
              <a:t>TARGET_RUNNING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7991856" y="4398264"/>
            <a:ext cx="1097280" cy="19202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8028431" y="4416551"/>
            <a:ext cx="1024127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202A2F"/>
                </a:solidFill>
                <a:latin typeface="Consolas"/>
              </a:rPr>
              <a:t>image_0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9089136" y="4398264"/>
            <a:ext cx="804672" cy="19202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TextBox 246"/>
          <p:cNvSpPr txBox="1"/>
          <p:nvPr/>
        </p:nvSpPr>
        <p:spPr>
          <a:xfrm>
            <a:off x="9125711" y="4416551"/>
            <a:ext cx="73152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9893808" y="4398264"/>
            <a:ext cx="713232" cy="19202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9930384" y="4416551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202A2F"/>
                </a:solidFill>
                <a:latin typeface="Aptos"/>
              </a:rPr>
              <a:t>454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6089904" y="4590288"/>
            <a:ext cx="1901952" cy="19202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6126480" y="4608575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1">
                <a:solidFill>
                  <a:srgbClr val="202A2F"/>
                </a:solidFill>
                <a:latin typeface="Consolas"/>
              </a:rPr>
              <a:t>TARGET_RUNNING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7991856" y="4590288"/>
            <a:ext cx="1097280" cy="19202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8028431" y="4608575"/>
            <a:ext cx="1024127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202A2F"/>
                </a:solidFill>
                <a:latin typeface="Consolas"/>
              </a:rPr>
              <a:t>image_1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9089136" y="4590288"/>
            <a:ext cx="804672" cy="19202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9125711" y="4608575"/>
            <a:ext cx="73152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9893808" y="4590288"/>
            <a:ext cx="713232" cy="19202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9930384" y="4608575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202A2F"/>
                </a:solidFill>
                <a:latin typeface="Aptos"/>
              </a:rPr>
              <a:t>1,204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6089904" y="4782312"/>
            <a:ext cx="1901952" cy="19202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TextBox 258"/>
          <p:cNvSpPr txBox="1"/>
          <p:nvPr/>
        </p:nvSpPr>
        <p:spPr>
          <a:xfrm>
            <a:off x="6126480" y="4800599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1">
                <a:solidFill>
                  <a:srgbClr val="202A2F"/>
                </a:solidFill>
                <a:latin typeface="Consolas"/>
              </a:rPr>
              <a:t>TARGET_RUNNING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7991856" y="4782312"/>
            <a:ext cx="1097280" cy="19202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8028431" y="4800599"/>
            <a:ext cx="1024127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202A2F"/>
                </a:solidFill>
                <a:latin typeface="Consolas"/>
              </a:rPr>
              <a:t>image_2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9089136" y="4782312"/>
            <a:ext cx="804672" cy="19202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TextBox 262"/>
          <p:cNvSpPr txBox="1"/>
          <p:nvPr/>
        </p:nvSpPr>
        <p:spPr>
          <a:xfrm>
            <a:off x="9125711" y="4800599"/>
            <a:ext cx="73152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9893808" y="4782312"/>
            <a:ext cx="713232" cy="192024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9930384" y="4800599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202A2F"/>
                </a:solidFill>
                <a:latin typeface="Aptos"/>
              </a:rPr>
              <a:t>154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6089904" y="4974336"/>
            <a:ext cx="1901952" cy="19202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TextBox 266"/>
          <p:cNvSpPr txBox="1"/>
          <p:nvPr/>
        </p:nvSpPr>
        <p:spPr>
          <a:xfrm>
            <a:off x="6126480" y="4992623"/>
            <a:ext cx="182880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1">
                <a:solidFill>
                  <a:srgbClr val="202A2F"/>
                </a:solidFill>
                <a:latin typeface="Consolas"/>
              </a:rPr>
              <a:t>DONE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7991856" y="4974336"/>
            <a:ext cx="1097280" cy="19202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8028431" y="4992623"/>
            <a:ext cx="1024127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202A2F"/>
                </a:solidFill>
                <a:latin typeface="Consolas"/>
              </a:rPr>
              <a:t>image_2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9089136" y="4974336"/>
            <a:ext cx="804672" cy="19202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TextBox 270"/>
          <p:cNvSpPr txBox="1"/>
          <p:nvPr/>
        </p:nvSpPr>
        <p:spPr>
          <a:xfrm>
            <a:off x="9125711" y="4992623"/>
            <a:ext cx="73152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3F7D58"/>
                </a:solidFill>
                <a:latin typeface="Aptos"/>
              </a:rPr>
              <a:t>Covered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9893808" y="4974336"/>
            <a:ext cx="713232" cy="192024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9930384" y="4992623"/>
            <a:ext cx="640080" cy="1645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575" b="0">
                <a:solidFill>
                  <a:srgbClr val="202A2F"/>
                </a:solidFill>
                <a:latin typeface="Aptos"/>
              </a:rPr>
              <a:t>4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6089904" y="5212080"/>
            <a:ext cx="5577840" cy="12801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A54A42"/>
                </a:solidFill>
                <a:latin typeface="Aptos"/>
              </a:rPr>
              <a:t>UNCOVERED COMBINATIONS · 0 HITS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6089904" y="5376672"/>
            <a:ext cx="1901952" cy="11887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6126480" y="5384254"/>
            <a:ext cx="1828800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1">
                <a:solidFill>
                  <a:srgbClr val="FFFFFF"/>
                </a:solidFill>
                <a:latin typeface="Aptos"/>
              </a:rPr>
              <a:t>STATE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7991856" y="5376672"/>
            <a:ext cx="1097280" cy="11887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TextBox 277"/>
          <p:cNvSpPr txBox="1"/>
          <p:nvPr/>
        </p:nvSpPr>
        <p:spPr>
          <a:xfrm>
            <a:off x="8028431" y="5384254"/>
            <a:ext cx="1024127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1">
                <a:solidFill>
                  <a:srgbClr val="FFFFFF"/>
                </a:solidFill>
                <a:latin typeface="Aptos"/>
              </a:rPr>
              <a:t>PHASE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9089136" y="5376672"/>
            <a:ext cx="1517904" cy="118872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9125711" y="5384254"/>
            <a:ext cx="1444751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1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6089904" y="5495544"/>
            <a:ext cx="1901952" cy="11887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TextBox 281"/>
          <p:cNvSpPr txBox="1"/>
          <p:nvPr/>
        </p:nvSpPr>
        <p:spPr>
          <a:xfrm>
            <a:off x="6126480" y="5503126"/>
            <a:ext cx="1828800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1">
                <a:solidFill>
                  <a:srgbClr val="202A2F"/>
                </a:solidFill>
                <a:latin typeface="Consolas"/>
              </a:rPr>
              <a:t>IDLE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7991856" y="5495544"/>
            <a:ext cx="1097280" cy="11887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TextBox 283"/>
          <p:cNvSpPr txBox="1"/>
          <p:nvPr/>
        </p:nvSpPr>
        <p:spPr>
          <a:xfrm>
            <a:off x="8028431" y="5503126"/>
            <a:ext cx="1024127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0">
                <a:solidFill>
                  <a:srgbClr val="202A2F"/>
                </a:solidFill>
                <a:latin typeface="Consolas"/>
              </a:rPr>
              <a:t>image_1 · image_2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9089136" y="5495544"/>
            <a:ext cx="1517904" cy="11887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TextBox 285"/>
          <p:cNvSpPr txBox="1"/>
          <p:nvPr/>
        </p:nvSpPr>
        <p:spPr>
          <a:xfrm>
            <a:off x="9125711" y="5503126"/>
            <a:ext cx="1444751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0">
                <a:solidFill>
                  <a:srgbClr val="A54A42"/>
                </a:solidFill>
                <a:latin typeface="Aptos"/>
              </a:rPr>
              <a:t>Uncovered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6089904" y="5614416"/>
            <a:ext cx="1901952" cy="11887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TextBox 287"/>
          <p:cNvSpPr txBox="1"/>
          <p:nvPr/>
        </p:nvSpPr>
        <p:spPr>
          <a:xfrm>
            <a:off x="6126480" y="5621998"/>
            <a:ext cx="1828800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1">
                <a:solidFill>
                  <a:srgbClr val="202A2F"/>
                </a:solidFill>
                <a:latin typeface="Consolas"/>
              </a:rPr>
              <a:t>WAIT_FLASH_METADATA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7991856" y="5614416"/>
            <a:ext cx="1097280" cy="11887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8028431" y="5621998"/>
            <a:ext cx="1024127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0">
                <a:solidFill>
                  <a:srgbClr val="202A2F"/>
                </a:solidFill>
                <a:latin typeface="Consolas"/>
              </a:rPr>
              <a:t>image_1 · image_2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9089136" y="5614416"/>
            <a:ext cx="1517904" cy="11887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TextBox 291"/>
          <p:cNvSpPr txBox="1"/>
          <p:nvPr/>
        </p:nvSpPr>
        <p:spPr>
          <a:xfrm>
            <a:off x="9125711" y="5621998"/>
            <a:ext cx="1444751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0">
                <a:solidFill>
                  <a:srgbClr val="A54A42"/>
                </a:solidFill>
                <a:latin typeface="Aptos"/>
              </a:rPr>
              <a:t>Uncovered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6089904" y="5733288"/>
            <a:ext cx="1901952" cy="11887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TextBox 293"/>
          <p:cNvSpPr txBox="1"/>
          <p:nvPr/>
        </p:nvSpPr>
        <p:spPr>
          <a:xfrm>
            <a:off x="6126480" y="5740870"/>
            <a:ext cx="1828800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1">
                <a:solidFill>
                  <a:srgbClr val="202A2F"/>
                </a:solidFill>
                <a:latin typeface="Consolas"/>
              </a:rPr>
              <a:t>DONE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7991856" y="5733288"/>
            <a:ext cx="1097280" cy="11887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TextBox 295"/>
          <p:cNvSpPr txBox="1"/>
          <p:nvPr/>
        </p:nvSpPr>
        <p:spPr>
          <a:xfrm>
            <a:off x="8028431" y="5740870"/>
            <a:ext cx="1024127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0">
                <a:solidFill>
                  <a:srgbClr val="202A2F"/>
                </a:solidFill>
                <a:latin typeface="Consolas"/>
              </a:rPr>
              <a:t>image_0 · image_1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9089136" y="5733288"/>
            <a:ext cx="1517904" cy="118872"/>
          </a:xfrm>
          <a:prstGeom prst="rect">
            <a:avLst/>
          </a:prstGeom>
          <a:solidFill>
            <a:srgbClr val="DAEFEF"/>
          </a:solidFill>
          <a:ln>
            <a:solidFill>
              <a:srgbClr val="DAEF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TextBox 297"/>
          <p:cNvSpPr txBox="1"/>
          <p:nvPr/>
        </p:nvSpPr>
        <p:spPr>
          <a:xfrm>
            <a:off x="9125711" y="5740870"/>
            <a:ext cx="1444751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0">
                <a:solidFill>
                  <a:srgbClr val="A54A42"/>
                </a:solidFill>
                <a:latin typeface="Aptos"/>
              </a:rPr>
              <a:t>Uncovered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6089904" y="5852159"/>
            <a:ext cx="1901952" cy="11887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299"/>
          <p:cNvSpPr txBox="1"/>
          <p:nvPr/>
        </p:nvSpPr>
        <p:spPr>
          <a:xfrm>
            <a:off x="6126480" y="5859742"/>
            <a:ext cx="1828800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1">
                <a:solidFill>
                  <a:srgbClr val="202A2F"/>
                </a:solidFill>
                <a:latin typeface="Consolas"/>
              </a:rPr>
              <a:t>FAILED</a:t>
            </a:r>
          </a:p>
        </p:txBody>
      </p:sp>
      <p:sp>
        <p:nvSpPr>
          <p:cNvPr id="301" name="Rectangle 300"/>
          <p:cNvSpPr/>
          <p:nvPr/>
        </p:nvSpPr>
        <p:spPr>
          <a:xfrm>
            <a:off x="7991856" y="5852159"/>
            <a:ext cx="1097280" cy="11887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TextBox 301"/>
          <p:cNvSpPr txBox="1"/>
          <p:nvPr/>
        </p:nvSpPr>
        <p:spPr>
          <a:xfrm>
            <a:off x="8028431" y="5859742"/>
            <a:ext cx="1024127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fr-FR" sz="525" b="0">
                <a:solidFill>
                  <a:srgbClr val="202A2F"/>
                </a:solidFill>
                <a:latin typeface="Consolas"/>
              </a:rPr>
              <a:t>image_0 · image_1 · image_2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9089136" y="5852159"/>
            <a:ext cx="1517904" cy="118872"/>
          </a:xfrm>
          <a:prstGeom prst="rect">
            <a:avLst/>
          </a:prstGeom>
          <a:solidFill>
            <a:srgbClr val="F7F3EB"/>
          </a:solidFill>
          <a:ln>
            <a:solidFill>
              <a:srgbClr val="F7F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TextBox 303"/>
          <p:cNvSpPr txBox="1"/>
          <p:nvPr/>
        </p:nvSpPr>
        <p:spPr>
          <a:xfrm>
            <a:off x="9125711" y="5859742"/>
            <a:ext cx="1444751" cy="112851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525" b="0">
                <a:solidFill>
                  <a:srgbClr val="A54A42"/>
                </a:solidFill>
                <a:latin typeface="Aptos"/>
              </a:rPr>
              <a:t>Uncovered</a:t>
            </a:r>
          </a:p>
        </p:txBody>
      </p:sp>
      <p:sp>
        <p:nvSpPr>
          <p:cNvPr id="305" name="Rectangle 304"/>
          <p:cNvSpPr/>
          <p:nvPr/>
        </p:nvSpPr>
        <p:spPr>
          <a:xfrm>
            <a:off x="475488" y="6025896"/>
            <a:ext cx="5349240" cy="365760"/>
          </a:xfrm>
          <a:prstGeom prst="rect">
            <a:avLst/>
          </a:prstGeom>
          <a:solidFill>
            <a:srgbClr val="F0EDE6"/>
          </a:solidFill>
          <a:ln w="8890">
            <a:solidFill>
              <a:srgbClr val="F2A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TextBox 305"/>
          <p:cNvSpPr txBox="1"/>
          <p:nvPr/>
        </p:nvSpPr>
        <p:spPr>
          <a:xfrm>
            <a:off x="621792" y="6071616"/>
            <a:ext cx="504748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45" b="1">
                <a:solidFill>
                  <a:srgbClr val="202A2F"/>
                </a:solidFill>
                <a:latin typeface="Aptos"/>
              </a:rPr>
              <a:t>cp_state hole: FAILED = 0 because only clean paths ran. Set INVALID_METADATA = 1’b1 to exercise error handling.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089904" y="6025896"/>
            <a:ext cx="5577840" cy="365760"/>
          </a:xfrm>
          <a:prstGeom prst="rect">
            <a:avLst/>
          </a:prstGeom>
          <a:solidFill>
            <a:srgbClr val="F0EDE6"/>
          </a:solidFill>
          <a:ln w="8890">
            <a:solidFill>
              <a:srgbClr val="F2A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TextBox 307"/>
          <p:cNvSpPr txBox="1"/>
          <p:nvPr/>
        </p:nvSpPr>
        <p:spPr>
          <a:xfrm>
            <a:off x="6236208" y="6071616"/>
            <a:ext cx="5276088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635" b="1">
                <a:solidFill>
                  <a:srgbClr val="202A2F"/>
                </a:solidFill>
                <a:latin typeface="Aptos"/>
              </a:rPr>
              <a:t>Cross gaps are structural: initialization occurs under image_0 and DONE under image_2. Filter unreachable pairs or add mid-sequence abort/reset tests.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D67027-1E9E-551F-D582-62503180DD15}"/>
              </a:ext>
            </a:extLst>
          </p:cNvPr>
          <p:cNvSpPr txBox="1"/>
          <p:nvPr/>
        </p:nvSpPr>
        <p:spPr>
          <a:xfrm>
            <a:off x="457200" y="256032"/>
            <a:ext cx="400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73"/>
                </a:solidFill>
                <a:latin typeface="Aptos Display"/>
              </a:defRPr>
            </a:pPr>
            <a:r>
              <a:t>13 / SYSTEM VERIFICATION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452FA-D2D0-3E58-CDDE-B106C90A3850}"/>
              </a:ext>
            </a:extLst>
          </p:cNvPr>
          <p:cNvSpPr txBox="1"/>
          <p:nvPr/>
        </p:nvSpPr>
        <p:spPr>
          <a:xfrm>
            <a:off x="457200" y="480000"/>
            <a:ext cx="112014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2A2E"/>
                </a:solidFill>
                <a:latin typeface="Aptos Display"/>
              </a:defRPr>
            </a:pPr>
            <a:r>
              <a:t>System-Level UVM Verification: High-Priority Fault Injection &amp; Safety Interlocks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C77B10-D1B9-AEF7-65A4-56D59ADBC64E}"/>
              </a:ext>
            </a:extLst>
          </p:cNvPr>
          <p:cNvSpPr/>
          <p:nvPr/>
        </p:nvSpPr>
        <p:spPr>
          <a:xfrm>
            <a:off x="457200" y="940000"/>
            <a:ext cx="11201400" cy="16459"/>
          </a:xfrm>
          <a:prstGeom prst="rect">
            <a:avLst/>
          </a:prstGeom>
          <a:solidFill>
            <a:srgbClr val="C7C4BC"/>
          </a:solidFill>
          <a:ln>
            <a:solidFill>
              <a:srgbClr val="C7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DDA79F-306B-A1F1-CF53-84086C16E702}"/>
              </a:ext>
            </a:extLst>
          </p:cNvPr>
          <p:cNvSpPr txBox="1"/>
          <p:nvPr/>
        </p:nvSpPr>
        <p:spPr>
          <a:xfrm>
            <a:off x="11338560" y="6510528"/>
            <a:ext cx="265176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73"/>
                </a:solidFill>
                <a:latin typeface="Aptos Display"/>
              </a:defRPr>
            </a:pPr>
            <a:r>
              <a:t>13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AB9AC6-1312-7C72-4E8F-58BF21049BEE}"/>
              </a:ext>
            </a:extLst>
          </p:cNvPr>
          <p:cNvSpPr/>
          <p:nvPr/>
        </p:nvSpPr>
        <p:spPr>
          <a:xfrm>
            <a:off x="6016752" y="1100000"/>
            <a:ext cx="16459" cy="5300000"/>
          </a:xfrm>
          <a:prstGeom prst="rect">
            <a:avLst/>
          </a:prstGeom>
          <a:solidFill>
            <a:srgbClr val="C7C4BC"/>
          </a:solidFill>
          <a:ln>
            <a:solidFill>
              <a:srgbClr val="C7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504108-6D4C-BD1B-544A-5C5F97740A5E}"/>
              </a:ext>
            </a:extLst>
          </p:cNvPr>
          <p:cNvSpPr txBox="1"/>
          <p:nvPr/>
        </p:nvSpPr>
        <p:spPr>
          <a:xfrm>
            <a:off x="475488" y="1050000"/>
            <a:ext cx="52578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73"/>
                </a:solidFill>
                <a:latin typeface="Aptos Display"/>
              </a:defRPr>
            </a:pPr>
            <a:r>
              <a:t>1 · UVM ARCHITECTURE &amp; RECOVERY COVERAGE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346FB1-05D0-036D-1A3D-7E3AA0EEB224}"/>
              </a:ext>
            </a:extLst>
          </p:cNvPr>
          <p:cNvSpPr/>
          <p:nvPr/>
        </p:nvSpPr>
        <p:spPr>
          <a:xfrm>
            <a:off x="475488" y="1280000"/>
            <a:ext cx="1650000" cy="680000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6EA7E5-88D0-6142-CAC9-3DDB247C9E09}"/>
              </a:ext>
            </a:extLst>
          </p:cNvPr>
          <p:cNvSpPr txBox="1"/>
          <p:nvPr/>
        </p:nvSpPr>
        <p:spPr>
          <a:xfrm>
            <a:off x="475488" y="1334400"/>
            <a:ext cx="1650000" cy="35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15 / 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222BE6-9CE6-C494-C764-75C0DD051C45}"/>
              </a:ext>
            </a:extLst>
          </p:cNvPr>
          <p:cNvSpPr txBox="1"/>
          <p:nvPr/>
        </p:nvSpPr>
        <p:spPr>
          <a:xfrm>
            <a:off x="475488" y="1647200"/>
            <a:ext cx="1650000" cy="2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 Display"/>
              </a:defRPr>
            </a:pPr>
            <a:r>
              <a:t>FSM STATES (100%)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99972F6-F6A3-57B3-CBC2-E91F6E1D5735}"/>
              </a:ext>
            </a:extLst>
          </p:cNvPr>
          <p:cNvSpPr/>
          <p:nvPr/>
        </p:nvSpPr>
        <p:spPr>
          <a:xfrm>
            <a:off x="2275488" y="1280000"/>
            <a:ext cx="1650000" cy="680000"/>
          </a:xfrm>
          <a:prstGeom prst="rect">
            <a:avLst/>
          </a:prstGeom>
          <a:solidFill>
            <a:srgbClr val="DAEFEF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9ACAAD-BAAE-EE99-FA2C-6A2DC9EEF047}"/>
              </a:ext>
            </a:extLst>
          </p:cNvPr>
          <p:cNvSpPr txBox="1"/>
          <p:nvPr/>
        </p:nvSpPr>
        <p:spPr>
          <a:xfrm>
            <a:off x="2275488" y="1334400"/>
            <a:ext cx="1650000" cy="35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06B73"/>
                </a:solidFill>
                <a:latin typeface="Aptos Display"/>
              </a:defRPr>
            </a:pPr>
            <a:r>
              <a:t>9 / 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FA9ACA-554D-547A-C083-6F0FB7C65D31}"/>
              </a:ext>
            </a:extLst>
          </p:cNvPr>
          <p:cNvSpPr txBox="1"/>
          <p:nvPr/>
        </p:nvSpPr>
        <p:spPr>
          <a:xfrm>
            <a:off x="2275488" y="1647200"/>
            <a:ext cx="1650000" cy="2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6B73"/>
                </a:solidFill>
                <a:latin typeface="Aptos Display"/>
              </a:defRPr>
            </a:pPr>
            <a:r>
              <a:t>AXI SEQUENCES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CF7533-DD23-880F-49DA-2B7344B07272}"/>
              </a:ext>
            </a:extLst>
          </p:cNvPr>
          <p:cNvSpPr/>
          <p:nvPr/>
        </p:nvSpPr>
        <p:spPr>
          <a:xfrm>
            <a:off x="4075488" y="1280000"/>
            <a:ext cx="1650000" cy="680000"/>
          </a:xfrm>
          <a:prstGeom prst="rect">
            <a:avLst/>
          </a:prstGeom>
          <a:solidFill>
            <a:srgbClr val="DAEFEF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ECA172-6C5F-F1F4-0B3C-3324AC68DE2B}"/>
              </a:ext>
            </a:extLst>
          </p:cNvPr>
          <p:cNvSpPr txBox="1"/>
          <p:nvPr/>
        </p:nvSpPr>
        <p:spPr>
          <a:xfrm>
            <a:off x="4075488" y="1334400"/>
            <a:ext cx="1650000" cy="35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06B73"/>
                </a:solidFill>
                <a:latin typeface="Aptos Display"/>
              </a:defRPr>
            </a:pPr>
            <a:r>
              <a:t>100%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24CE52-6FDF-4A13-7C42-1CF48DCDEE77}"/>
              </a:ext>
            </a:extLst>
          </p:cNvPr>
          <p:cNvSpPr txBox="1"/>
          <p:nvPr/>
        </p:nvSpPr>
        <p:spPr>
          <a:xfrm>
            <a:off x="4075488" y="1647200"/>
            <a:ext cx="1650000" cy="2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6B73"/>
                </a:solidFill>
                <a:latin typeface="Aptos Display"/>
              </a:defRPr>
            </a:pPr>
            <a:r>
              <a:t>SVA PASS RATE</a:t>
            </a:r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20F968F-4760-9DE4-8B8D-CB48564EB8E4}"/>
              </a:ext>
            </a:extLst>
          </p:cNvPr>
          <p:cNvGraphicFramePr>
            <a:graphicFrameLocks noGrp="1"/>
          </p:cNvGraphicFramePr>
          <p:nvPr/>
        </p:nvGraphicFramePr>
        <p:xfrm>
          <a:off x="475488" y="2060000"/>
          <a:ext cx="52578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9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85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VERIFICATION COMPONENT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IMPLEMENTATION &amp; HARDWARE SCOPE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85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UVM Testbench Top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tb_multi_image_schedule (driver, scbd, cov, sequencer)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85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FSM Coverpoint (cp_state)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All 15 states binned (IDLE, TRANSFER, ABORT, FAILED, etc.)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85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Sequencer (cp_sequence)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All 9 sequences (SEQ_META_CFG through SEQ_ABORT)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85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SVA: p_fabric_start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$rose(target_fabric_start_en) |-&gt; config_handshake_ok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857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SVA: p_no_fabric_fail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failed |-&gt; !target_fabric_start_en (safety interlock)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858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SVA: p_timer_sync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timer_active == target_fabric_start_en (lockstep)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7" name="Rectangle 36">
            <a:extLst>
              <a:ext uri="{FF2B5EF4-FFF2-40B4-BE49-F238E27FC236}">
                <a16:creationId xmlns:a16="http://schemas.microsoft.com/office/drawing/2014/main" id="{34E69703-D621-FBE0-8E4C-C87241C6F348}"/>
              </a:ext>
            </a:extLst>
          </p:cNvPr>
          <p:cNvSpPr/>
          <p:nvPr/>
        </p:nvSpPr>
        <p:spPr>
          <a:xfrm>
            <a:off x="475488" y="4700000"/>
            <a:ext cx="5257800" cy="1600000"/>
          </a:xfrm>
          <a:prstGeom prst="rect">
            <a:avLst/>
          </a:prstGeom>
          <a:solidFill>
            <a:srgbClr val="F0EDE6"/>
          </a:solidFill>
          <a:ln>
            <a:solidFill>
              <a:srgbClr val="F2A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80729F-8F0D-2414-75A5-477832095CD5}"/>
              </a:ext>
            </a:extLst>
          </p:cNvPr>
          <p:cNvSpPr txBox="1"/>
          <p:nvPr/>
        </p:nvSpPr>
        <p:spPr>
          <a:xfrm>
            <a:off x="495488" y="4730000"/>
            <a:ext cx="52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6B73"/>
                </a:solidFill>
                <a:latin typeface="Aptos Display"/>
              </a:defRPr>
            </a:pPr>
            <a:r>
              <a:t>HARDWARE SAFETY INTERLOCK PRINCIPLE</a:t>
            </a:r>
          </a:p>
          <a:p>
            <a:pPr>
              <a:defRPr sz="850">
                <a:solidFill>
                  <a:srgbClr val="252A2E"/>
                </a:solidFill>
                <a:latin typeface="Aptos"/>
              </a:defRPr>
            </a:pPr>
            <a:r>
              <a:t>• In VLSI verification, testing nominal paths alone leaves abort routines unexercised.</a:t>
            </a:r>
            <a:br/>
            <a:r>
              <a:t>• Hardware safety rule: If silicon ID or bitstream integrity fails, target_fabric_start_en MUST remain strictly 0 to protect connected external hardware and power rails.</a:t>
            </a:r>
            <a:br/>
            <a:r>
              <a:t>• All abort paths trigger 3 peripheral abort writes and 5-cycle JTAG TLR TAP recovery.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9EA305-8EAA-C35B-AEAF-1A785AC73480}"/>
              </a:ext>
            </a:extLst>
          </p:cNvPr>
          <p:cNvSpPr txBox="1"/>
          <p:nvPr/>
        </p:nvSpPr>
        <p:spPr>
          <a:xfrm>
            <a:off x="6254496" y="1050000"/>
            <a:ext cx="5404104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73"/>
                </a:solidFill>
                <a:latin typeface="Aptos Display"/>
              </a:defRPr>
            </a:pPr>
            <a:r>
              <a:t>2 · HIGH-PRIORITY FAULT INJECTION &amp; RECOVERY MATRIX</a:t>
            </a:r>
          </a:p>
        </p:txBody>
      </p:sp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FE2FB716-6E9C-63D5-6967-2798EBC9942B}"/>
              </a:ext>
            </a:extLst>
          </p:cNvPr>
          <p:cNvGraphicFramePr>
            <a:graphicFrameLocks noGrp="1"/>
          </p:cNvGraphicFramePr>
          <p:nvPr/>
        </p:nvGraphicFramePr>
        <p:xfrm>
          <a:off x="6254496" y="1280000"/>
          <a:ext cx="5404102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3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3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25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25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TEST CASE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FAULT INJECTED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HARDWARE ACTION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TIME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STATUS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base_test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None (Golden flow)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All 3 images execute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655.75 us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test_idcode_mismatch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TDO=0 (ID: 0x00 != expected)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SEQ_ABORT -&gt; ST_FAILED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88.25 us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test_config_failure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target_config_success=0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MEM/DMA abort writes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180.85 us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test_task_error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Pulse target_task_error=1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IRQ 13, fabric shutdown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191.35 us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Rectangle 44">
            <a:extLst>
              <a:ext uri="{FF2B5EF4-FFF2-40B4-BE49-F238E27FC236}">
                <a16:creationId xmlns:a16="http://schemas.microsoft.com/office/drawing/2014/main" id="{783918D4-448A-F644-E0C7-FB60C8C4B186}"/>
              </a:ext>
            </a:extLst>
          </p:cNvPr>
          <p:cNvSpPr/>
          <p:nvPr/>
        </p:nvSpPr>
        <p:spPr>
          <a:xfrm>
            <a:off x="6254496" y="3250000"/>
            <a:ext cx="5404104" cy="3050000"/>
          </a:xfrm>
          <a:prstGeom prst="rect">
            <a:avLst/>
          </a:prstGeom>
          <a:solidFill>
            <a:srgbClr val="10262C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4592BA2-5D3D-3D53-6BB0-158C6E53C680}"/>
              </a:ext>
            </a:extLst>
          </p:cNvPr>
          <p:cNvSpPr txBox="1"/>
          <p:nvPr/>
        </p:nvSpPr>
        <p:spPr>
          <a:xfrm>
            <a:off x="6300000" y="3300000"/>
            <a:ext cx="5300000" cy="29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>
                <a:solidFill>
                  <a:srgbClr val="FFFFFF"/>
                </a:solidFill>
                <a:latin typeface="Consolas"/>
              </a:defRPr>
            </a:pPr>
            <a:r>
              <a:t>FAULT INJECTION &amp; RECOVERY TIMING FLOW</a:t>
            </a:r>
            <a:br/>
            <a:r>
              <a:t>===================================================================</a:t>
            </a:r>
            <a:br/>
            <a:r>
              <a:t>1. test_idcode_mismatch [t = 88.25 us]</a:t>
            </a:r>
            <a:br/>
            <a:r>
              <a:t>   ST_IDCODE_WAIT -&gt; Sample TDO -&gt; Mismatch (0x00000000 != 0x12345678)</a:t>
            </a:r>
            <a:br/>
            <a:r>
              <a:t>   -&gt; failed=1, sequence_kind = SEQ_ABORT</a:t>
            </a:r>
            <a:br/>
            <a:r>
              <a:t>   -&gt; AXI Abort: MEM (0x02), DMA (0x02), JTAG (0x10 + 5-clock TLR)</a:t>
            </a:r>
            <a:br/>
            <a:r>
              <a:t>   -&gt; ST_ABORT_WAIT -&gt; ST_FAILED | target_fabric_start_en = 0</a:t>
            </a:r>
            <a:br/>
            <a:br/>
            <a:r>
              <a:t>2. test_config_failure [t = 180.85 us]</a:t>
            </a:r>
            <a:br/>
            <a:r>
              <a:t>   ST_TARGET_STATUS_WAIT -&gt; status_valid=1 &amp; status_success=0 (CRC fail)</a:t>
            </a:r>
            <a:br/>
            <a:r>
              <a:t>   -&gt; failed=1, sequence_kind = SEQ_ABORT -&gt; ST_FAILED</a:t>
            </a:r>
            <a:br/>
            <a:br/>
            <a:r>
              <a:t>3. test_task_error [t = 189.00 us -&gt; 191.35 us]</a:t>
            </a:r>
            <a:br/>
            <a:r>
              <a:t>   ST_TARGET_RUN -&gt; target_task_error=1 -&gt; irq_status[13] asserted</a:t>
            </a:r>
            <a:br/>
            <a:r>
              <a:t>   -&gt; target_fabric_start_en &lt;= 0, timer_active &lt;= 0 (Immediate halt)</a:t>
            </a:r>
            <a:br/>
            <a:r>
              <a:t>   -&gt; irq_clear_req[13] &lt;= 1 -&gt; SEQ_ABORT -&gt; ST_FAILED</a:t>
            </a:r>
          </a:p>
        </p:txBody>
      </p:sp>
    </p:spTree>
    <p:extLst>
      <p:ext uri="{BB962C8B-B14F-4D97-AF65-F5344CB8AC3E}">
        <p14:creationId xmlns:p14="http://schemas.microsoft.com/office/powerpoint/2010/main" val="2162560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4D1CFE-CFFA-DDFA-8D9E-65E38B591F49}"/>
              </a:ext>
            </a:extLst>
          </p:cNvPr>
          <p:cNvSpPr txBox="1"/>
          <p:nvPr/>
        </p:nvSpPr>
        <p:spPr>
          <a:xfrm>
            <a:off x="457200" y="256032"/>
            <a:ext cx="400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73"/>
                </a:solidFill>
                <a:latin typeface="Aptos Display"/>
              </a:defRPr>
            </a:pPr>
            <a:r>
              <a:t>14 / SYSTEM VERIFICATION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AFE35-4D56-635F-277F-2C86CD68F182}"/>
              </a:ext>
            </a:extLst>
          </p:cNvPr>
          <p:cNvSpPr txBox="1"/>
          <p:nvPr/>
        </p:nvSpPr>
        <p:spPr>
          <a:xfrm>
            <a:off x="457200" y="480000"/>
            <a:ext cx="112014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2A2E"/>
                </a:solidFill>
                <a:latin typeface="Aptos Display"/>
              </a:defRPr>
            </a:pPr>
            <a:r>
              <a:t>System-Level UVM Verification: Medium &amp; Low Priority Scenarios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063178-1653-1900-9D56-71DD766BDF0B}"/>
              </a:ext>
            </a:extLst>
          </p:cNvPr>
          <p:cNvSpPr/>
          <p:nvPr/>
        </p:nvSpPr>
        <p:spPr>
          <a:xfrm>
            <a:off x="457200" y="940000"/>
            <a:ext cx="11201400" cy="16459"/>
          </a:xfrm>
          <a:prstGeom prst="rect">
            <a:avLst/>
          </a:prstGeom>
          <a:solidFill>
            <a:srgbClr val="C7C4BC"/>
          </a:solidFill>
          <a:ln>
            <a:solidFill>
              <a:srgbClr val="C7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22A22C-550A-A62C-A4DA-BBFEB505481F}"/>
              </a:ext>
            </a:extLst>
          </p:cNvPr>
          <p:cNvSpPr txBox="1"/>
          <p:nvPr/>
        </p:nvSpPr>
        <p:spPr>
          <a:xfrm>
            <a:off x="11338560" y="6510528"/>
            <a:ext cx="265176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73"/>
                </a:solidFill>
                <a:latin typeface="Aptos Display"/>
              </a:defRPr>
            </a:pPr>
            <a:r>
              <a:t>14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8AC383-3EBB-547F-66CC-94490F67C025}"/>
              </a:ext>
            </a:extLst>
          </p:cNvPr>
          <p:cNvSpPr/>
          <p:nvPr/>
        </p:nvSpPr>
        <p:spPr>
          <a:xfrm>
            <a:off x="6016752" y="1100000"/>
            <a:ext cx="16459" cy="5300000"/>
          </a:xfrm>
          <a:prstGeom prst="rect">
            <a:avLst/>
          </a:prstGeom>
          <a:solidFill>
            <a:srgbClr val="C7C4BC"/>
          </a:solidFill>
          <a:ln>
            <a:solidFill>
              <a:srgbClr val="C7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9E2310-A9F2-7215-990C-D6452F501CD8}"/>
              </a:ext>
            </a:extLst>
          </p:cNvPr>
          <p:cNvSpPr txBox="1"/>
          <p:nvPr/>
        </p:nvSpPr>
        <p:spPr>
          <a:xfrm>
            <a:off x="475488" y="1050000"/>
            <a:ext cx="52578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73"/>
                </a:solidFill>
                <a:latin typeface="Aptos Display"/>
              </a:defRPr>
            </a:pPr>
            <a:r>
              <a:t>1 · MEDIUM PRIORITY: BOUNDARY PARSING &amp; FLOW CONTROL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4ED008-9ED8-1165-B43E-20A2F891EA9E}"/>
              </a:ext>
            </a:extLst>
          </p:cNvPr>
          <p:cNvSpPr/>
          <p:nvPr/>
        </p:nvSpPr>
        <p:spPr>
          <a:xfrm>
            <a:off x="475488" y="1280000"/>
            <a:ext cx="5257800" cy="1550000"/>
          </a:xfrm>
          <a:prstGeom prst="rect">
            <a:avLst/>
          </a:prstGeom>
          <a:solidFill>
            <a:srgbClr val="DAEFEF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F94F8C-3E6D-2F72-E1DC-91E51826E333}"/>
              </a:ext>
            </a:extLst>
          </p:cNvPr>
          <p:cNvSpPr txBox="1"/>
          <p:nvPr/>
        </p:nvSpPr>
        <p:spPr>
          <a:xfrm>
            <a:off x="495488" y="1320000"/>
            <a:ext cx="52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6B73"/>
                </a:solidFill>
                <a:latin typeface="Aptos Display"/>
              </a:defRPr>
            </a:pPr>
            <a:r>
              <a:t>test_metadata_zero_len · BITSTREAM ZERO-LENGTH REJECTION</a:t>
            </a:r>
          </a:p>
          <a:p>
            <a:pPr>
              <a:defRPr sz="850">
                <a:solidFill>
                  <a:srgbClr val="252A2E"/>
                </a:solidFill>
                <a:latin typeface="Aptos"/>
              </a:defRPr>
            </a:pPr>
            <a:r>
              <a:t>• Injected: Metadata word 4 (bitstream length) set to 0 in flash.</a:t>
            </a:r>
            <a:br/>
            <a:r>
              <a:t>• Hardware Reaction: Combinational check evaluates metadata_valid=0 in ST_META_WAIT.</a:t>
            </a:r>
            <a:br/>
            <a:r>
              <a:t>• Aborts immediately at 26.75 us. Prevents DMA hang / zero-length descriptor stall.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ACA904E-2949-AA49-4A0E-64DEF57885CF}"/>
              </a:ext>
            </a:extLst>
          </p:cNvPr>
          <p:cNvSpPr/>
          <p:nvPr/>
        </p:nvSpPr>
        <p:spPr>
          <a:xfrm>
            <a:off x="475488" y="2930000"/>
            <a:ext cx="5257800" cy="1550000"/>
          </a:xfrm>
          <a:prstGeom prst="rect">
            <a:avLst/>
          </a:prstGeom>
          <a:solidFill>
            <a:srgbClr val="DAEFEF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B67A5F-2C83-B3F2-90CD-B845E5C1F7E1}"/>
              </a:ext>
            </a:extLst>
          </p:cNvPr>
          <p:cNvSpPr txBox="1"/>
          <p:nvPr/>
        </p:nvSpPr>
        <p:spPr>
          <a:xfrm>
            <a:off x="495488" y="2970000"/>
            <a:ext cx="52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6B73"/>
                </a:solidFill>
                <a:latin typeface="Aptos Display"/>
              </a:defRPr>
            </a:pPr>
            <a:r>
              <a:t>test_metadata_unaligned · BYTE-ALIGNMENT ENFORCEMENT</a:t>
            </a:r>
          </a:p>
          <a:p>
            <a:pPr>
              <a:defRPr sz="850">
                <a:solidFill>
                  <a:srgbClr val="252A2E"/>
                </a:solidFill>
                <a:latin typeface="Aptos"/>
              </a:defRPr>
            </a:pPr>
            <a:r>
              <a:t>• Injected: Length set to 73 bits (73 % 8 != 0, unaligned bitstream boundary).</a:t>
            </a:r>
            <a:br/>
            <a:r>
              <a:t>• Hardware Reaction: Detected by metadata_words[1][2:0] != 0. Rejected in ST_META_WAIT.</a:t>
            </a:r>
            <a:br/>
            <a:r>
              <a:t>• Aborts at 26.75 us. Guarantees byte packing integrity into DMA/JTAG shift register.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978AC91-D4EB-2BDA-2B29-E7DD9D56793C}"/>
              </a:ext>
            </a:extLst>
          </p:cNvPr>
          <p:cNvSpPr/>
          <p:nvPr/>
        </p:nvSpPr>
        <p:spPr>
          <a:xfrm>
            <a:off x="475488" y="4580000"/>
            <a:ext cx="5257800" cy="1550000"/>
          </a:xfrm>
          <a:prstGeom prst="rect">
            <a:avLst/>
          </a:prstGeom>
          <a:solidFill>
            <a:srgbClr val="DAEFEF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9FE8EA-A732-C62E-845C-A1B748BB7439}"/>
              </a:ext>
            </a:extLst>
          </p:cNvPr>
          <p:cNvSpPr txBox="1"/>
          <p:nvPr/>
        </p:nvSpPr>
        <p:spPr>
          <a:xfrm>
            <a:off x="495488" y="4620000"/>
            <a:ext cx="520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6B73"/>
                </a:solidFill>
                <a:latin typeface="Aptos Display"/>
              </a:defRPr>
            </a:pPr>
            <a:r>
              <a:t>Protocol Flow Control · AXI-STREAM BACKPRESSURE &amp; TCK STABILITY</a:t>
            </a:r>
          </a:p>
          <a:p>
            <a:pPr>
              <a:defRPr sz="850">
                <a:solidFill>
                  <a:srgbClr val="252A2E"/>
                </a:solidFill>
                <a:latin typeface="Aptos"/>
              </a:defRPr>
            </a:pPr>
            <a:r>
              <a:t>• Cross: memory_tvalid x memory_tready and awvalid x awready.</a:t>
            </a:r>
            <a:br/>
            <a:r>
              <a:t>• Verified serial flash engine holds in ST_STREAM_WAIT without losing bytes or dropping SCLK.</a:t>
            </a:r>
            <a:br/>
            <a:r>
              <a:t>• SVA p_tck_stable_when_idle verifies JTAG TCK never glitches during pauses.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D77892-26BC-DD7D-438B-CFA62BE5A125}"/>
              </a:ext>
            </a:extLst>
          </p:cNvPr>
          <p:cNvSpPr txBox="1"/>
          <p:nvPr/>
        </p:nvSpPr>
        <p:spPr>
          <a:xfrm>
            <a:off x="6254496" y="1050000"/>
            <a:ext cx="5404104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73"/>
                </a:solidFill>
                <a:latin typeface="Aptos Display"/>
              </a:defRPr>
            </a:pPr>
            <a:r>
              <a:t>2 · LOW PRIORITY: WATCHDOGS &amp; ASYNC RESET RECOVERY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50C880-A2B7-2519-46F6-AEB1422DE530}"/>
              </a:ext>
            </a:extLst>
          </p:cNvPr>
          <p:cNvSpPr/>
          <p:nvPr/>
        </p:nvSpPr>
        <p:spPr>
          <a:xfrm>
            <a:off x="6254496" y="1280000"/>
            <a:ext cx="5404104" cy="1550000"/>
          </a:xfrm>
          <a:prstGeom prst="rect">
            <a:avLst/>
          </a:prstGeom>
          <a:solidFill>
            <a:srgbClr val="F0EDE6"/>
          </a:solidFill>
          <a:ln>
            <a:solidFill>
              <a:srgbClr val="F2A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B00E6B9-81C9-5B46-DECB-AD71242A9FFA}"/>
              </a:ext>
            </a:extLst>
          </p:cNvPr>
          <p:cNvSpPr txBox="1"/>
          <p:nvPr/>
        </p:nvSpPr>
        <p:spPr>
          <a:xfrm>
            <a:off x="6274496" y="1320000"/>
            <a:ext cx="535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6B73"/>
                </a:solidFill>
                <a:latin typeface="Aptos Display"/>
              </a:defRPr>
            </a:pPr>
            <a:r>
              <a:t>test_watchdog_timeout · APPLICATION RUNTIME WATCHDOG EXPIRY</a:t>
            </a:r>
          </a:p>
          <a:p>
            <a:pPr>
              <a:defRPr sz="850">
                <a:solidFill>
                  <a:srgbClr val="252A2E"/>
                </a:solidFill>
                <a:latin typeface="Aptos"/>
              </a:defRPr>
            </a:pPr>
            <a:r>
              <a:t>• Injected: Target task duration set to 1 ms; target_task_done suppressed.</a:t>
            </a:r>
            <a:br/>
            <a:r>
              <a:t>• Hardware Reaction: task_watchdog_count reaches limit in ST_TARGET_RUN.</a:t>
            </a:r>
            <a:br/>
            <a:r>
              <a:t>• timer_irq pulses, fabric drops, enters SEQ_ABORT -&gt; ST_FAILED (220.15 us).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B11258-1C12-4DCA-CFD7-5586A72B5ECC}"/>
              </a:ext>
            </a:extLst>
          </p:cNvPr>
          <p:cNvSpPr/>
          <p:nvPr/>
        </p:nvSpPr>
        <p:spPr>
          <a:xfrm>
            <a:off x="6254496" y="2930000"/>
            <a:ext cx="5404104" cy="1550000"/>
          </a:xfrm>
          <a:prstGeom prst="rect">
            <a:avLst/>
          </a:prstGeom>
          <a:solidFill>
            <a:srgbClr val="F0EDE6"/>
          </a:solidFill>
          <a:ln>
            <a:solidFill>
              <a:srgbClr val="F2A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3160C0-BF10-DD0F-AB84-BCD40B7E2573}"/>
              </a:ext>
            </a:extLst>
          </p:cNvPr>
          <p:cNvSpPr txBox="1"/>
          <p:nvPr/>
        </p:nvSpPr>
        <p:spPr>
          <a:xfrm>
            <a:off x="6274496" y="2970000"/>
            <a:ext cx="535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6B73"/>
                </a:solidFill>
                <a:latin typeface="Aptos Display"/>
              </a:defRPr>
            </a:pPr>
            <a:r>
              <a:t>test_config_timeout · DISCONNECTED TARGET STATUS TIMEOUT</a:t>
            </a:r>
          </a:p>
          <a:p>
            <a:pPr>
              <a:defRPr sz="850">
                <a:solidFill>
                  <a:srgbClr val="252A2E"/>
                </a:solidFill>
                <a:latin typeface="Aptos"/>
              </a:defRPr>
            </a:pPr>
            <a:r>
              <a:t>• Injected: Target status valid handshake suppressed after JTAG bitstream shift.</a:t>
            </a:r>
            <a:br/>
            <a:r>
              <a:t>• Hardware Reaction: State watchdog count reaches WATCHDOG_CYCLES (2000 cycles).</a:t>
            </a:r>
            <a:br/>
            <a:r>
              <a:t>• Escapes permanent deadlock in ST_TARGET_STATUS_WAIT -&gt; aborts at 378.85 us.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AED1E81-A395-14EC-9811-7CDA492A2138}"/>
              </a:ext>
            </a:extLst>
          </p:cNvPr>
          <p:cNvSpPr/>
          <p:nvPr/>
        </p:nvSpPr>
        <p:spPr>
          <a:xfrm>
            <a:off x="6254496" y="4580000"/>
            <a:ext cx="5404104" cy="1550000"/>
          </a:xfrm>
          <a:prstGeom prst="rect">
            <a:avLst/>
          </a:prstGeom>
          <a:solidFill>
            <a:srgbClr val="F0EDE6"/>
          </a:solidFill>
          <a:ln>
            <a:solidFill>
              <a:srgbClr val="F2A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9EC032-68BC-A8FF-09BF-32A9FB5C11F9}"/>
              </a:ext>
            </a:extLst>
          </p:cNvPr>
          <p:cNvSpPr txBox="1"/>
          <p:nvPr/>
        </p:nvSpPr>
        <p:spPr>
          <a:xfrm>
            <a:off x="6274496" y="4620000"/>
            <a:ext cx="5350000" cy="14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06B73"/>
                </a:solidFill>
                <a:latin typeface="Aptos Display"/>
              </a:defRPr>
            </a:pPr>
            <a:r>
              <a:t>test_mid_op_reset · ASYNCHRONOUS RESET &amp; RESTART RECOVERY</a:t>
            </a:r>
          </a:p>
          <a:p>
            <a:pPr>
              <a:defRPr sz="850">
                <a:solidFill>
                  <a:srgbClr val="252A2E"/>
                </a:solidFill>
                <a:latin typeface="Aptos"/>
              </a:defRPr>
            </a:pPr>
            <a:r>
              <a:t>• Injected: 10-cycle asynchronous rst_n=0 asserted in ST_TRANSFER_WAIT (state 6).</a:t>
            </a:r>
            <a:br/>
            <a:r>
              <a:t>• Hardware Reaction: All outputs drop in 1 cycle; returns cleanly to ST_IDLE.</a:t>
            </a:r>
            <a:br/>
            <a:r>
              <a:t>• Re-pulsing schedule_start rebooted and completed all 3 images (757.25 us).</a:t>
            </a:r>
          </a:p>
        </p:txBody>
      </p:sp>
    </p:spTree>
    <p:extLst>
      <p:ext uri="{BB962C8B-B14F-4D97-AF65-F5344CB8AC3E}">
        <p14:creationId xmlns:p14="http://schemas.microsoft.com/office/powerpoint/2010/main" val="25754516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8B93AC-A616-E26B-7F66-CA4919675185}"/>
              </a:ext>
            </a:extLst>
          </p:cNvPr>
          <p:cNvSpPr txBox="1"/>
          <p:nvPr/>
        </p:nvSpPr>
        <p:spPr>
          <a:xfrm>
            <a:off x="457200" y="256032"/>
            <a:ext cx="40000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73"/>
                </a:solidFill>
                <a:latin typeface="Aptos Display"/>
              </a:defRPr>
            </a:pPr>
            <a:r>
              <a:t>15 / RTL &amp; SYSTEM VERIFICATION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36B09-F6E6-4319-967C-BCC899E9AEB5}"/>
              </a:ext>
            </a:extLst>
          </p:cNvPr>
          <p:cNvSpPr txBox="1"/>
          <p:nvPr/>
        </p:nvSpPr>
        <p:spPr>
          <a:xfrm>
            <a:off x="457200" y="480000"/>
            <a:ext cx="11201400" cy="4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2A2E"/>
                </a:solidFill>
                <a:latin typeface="Aptos Display"/>
              </a:defRPr>
            </a:pPr>
            <a:r>
              <a:t>AMD Vivado XCRG Unified Coverage Report &amp; Regression Sign-Off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7B2E82-18BF-ECD4-8ED4-605FBB89302B}"/>
              </a:ext>
            </a:extLst>
          </p:cNvPr>
          <p:cNvSpPr/>
          <p:nvPr/>
        </p:nvSpPr>
        <p:spPr>
          <a:xfrm>
            <a:off x="457200" y="940000"/>
            <a:ext cx="11201400" cy="16459"/>
          </a:xfrm>
          <a:prstGeom prst="rect">
            <a:avLst/>
          </a:prstGeom>
          <a:solidFill>
            <a:srgbClr val="C7C4BC"/>
          </a:solidFill>
          <a:ln>
            <a:solidFill>
              <a:srgbClr val="C7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17B85-72FB-69C1-C068-6C47F21FCDF2}"/>
              </a:ext>
            </a:extLst>
          </p:cNvPr>
          <p:cNvSpPr txBox="1"/>
          <p:nvPr/>
        </p:nvSpPr>
        <p:spPr>
          <a:xfrm>
            <a:off x="11338560" y="6510528"/>
            <a:ext cx="265176" cy="1920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73"/>
                </a:solidFill>
                <a:latin typeface="Aptos Display"/>
              </a:defRPr>
            </a:pPr>
            <a:r>
              <a:t>15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341E7E-C390-9B21-D070-D9C28FE2C510}"/>
              </a:ext>
            </a:extLst>
          </p:cNvPr>
          <p:cNvSpPr/>
          <p:nvPr/>
        </p:nvSpPr>
        <p:spPr>
          <a:xfrm>
            <a:off x="5700000" y="1100000"/>
            <a:ext cx="16459" cy="5300000"/>
          </a:xfrm>
          <a:prstGeom prst="rect">
            <a:avLst/>
          </a:prstGeom>
          <a:solidFill>
            <a:srgbClr val="C7C4BC"/>
          </a:solidFill>
          <a:ln>
            <a:solidFill>
              <a:srgbClr val="C7C4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C7EF82-EBC0-F210-C04F-0E17AF0EACD7}"/>
              </a:ext>
            </a:extLst>
          </p:cNvPr>
          <p:cNvSpPr txBox="1"/>
          <p:nvPr/>
        </p:nvSpPr>
        <p:spPr>
          <a:xfrm>
            <a:off x="475488" y="1050000"/>
            <a:ext cx="50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73"/>
                </a:solidFill>
                <a:latin typeface="Aptos Display"/>
              </a:defRPr>
            </a:pPr>
            <a:r>
              <a:t>1 · XCRG UNIFIED COVERAGE SCORES (Vivado 2025.2)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23D904-80D9-651B-06A8-D311AD28CFA5}"/>
              </a:ext>
            </a:extLst>
          </p:cNvPr>
          <p:cNvSpPr/>
          <p:nvPr/>
        </p:nvSpPr>
        <p:spPr>
          <a:xfrm>
            <a:off x="475488" y="1280000"/>
            <a:ext cx="2400000" cy="680000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F2DE27-1AC2-50EC-2292-2D1A27D6F75F}"/>
              </a:ext>
            </a:extLst>
          </p:cNvPr>
          <p:cNvSpPr txBox="1"/>
          <p:nvPr/>
        </p:nvSpPr>
        <p:spPr>
          <a:xfrm>
            <a:off x="475488" y="1334400"/>
            <a:ext cx="2400000" cy="35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 Display"/>
              </a:defRPr>
            </a:pPr>
            <a:r>
              <a:t>84.73%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F844C2-F5B1-4DC3-A428-4827FA2B33F2}"/>
              </a:ext>
            </a:extLst>
          </p:cNvPr>
          <p:cNvSpPr txBox="1"/>
          <p:nvPr/>
        </p:nvSpPr>
        <p:spPr>
          <a:xfrm>
            <a:off x="475488" y="1647200"/>
            <a:ext cx="2400000" cy="2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 Display"/>
              </a:defRPr>
            </a:pPr>
            <a:r>
              <a:t>FUNCTIONAL (cg_scheduler)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C128F3-B8F4-6EBA-2CE5-2CF110E8030D}"/>
              </a:ext>
            </a:extLst>
          </p:cNvPr>
          <p:cNvSpPr/>
          <p:nvPr/>
        </p:nvSpPr>
        <p:spPr>
          <a:xfrm>
            <a:off x="3075488" y="1280000"/>
            <a:ext cx="2400000" cy="680000"/>
          </a:xfrm>
          <a:prstGeom prst="rect">
            <a:avLst/>
          </a:prstGeom>
          <a:solidFill>
            <a:srgbClr val="DAEFEF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872CC9-F64E-49DC-EA83-73EBEBFA01A4}"/>
              </a:ext>
            </a:extLst>
          </p:cNvPr>
          <p:cNvSpPr txBox="1"/>
          <p:nvPr/>
        </p:nvSpPr>
        <p:spPr>
          <a:xfrm>
            <a:off x="3075488" y="1334400"/>
            <a:ext cx="2400000" cy="35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06B73"/>
                </a:solidFill>
                <a:latin typeface="Aptos Display"/>
              </a:defRPr>
            </a:pPr>
            <a:r>
              <a:t>80.51%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AC0E3C-B421-F5B6-2BEB-1FD9BE15AAF1}"/>
              </a:ext>
            </a:extLst>
          </p:cNvPr>
          <p:cNvSpPr txBox="1"/>
          <p:nvPr/>
        </p:nvSpPr>
        <p:spPr>
          <a:xfrm>
            <a:off x="3075488" y="1647200"/>
            <a:ext cx="2400000" cy="2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6B73"/>
                </a:solidFill>
                <a:latin typeface="Aptos Display"/>
              </a:defRPr>
            </a:pPr>
            <a:r>
              <a:t>STATEMENT COVERAGE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D73A09-47A0-1CF1-A19A-0557E79BB0B3}"/>
              </a:ext>
            </a:extLst>
          </p:cNvPr>
          <p:cNvSpPr/>
          <p:nvPr/>
        </p:nvSpPr>
        <p:spPr>
          <a:xfrm>
            <a:off x="475488" y="2040000"/>
            <a:ext cx="2400000" cy="680000"/>
          </a:xfrm>
          <a:prstGeom prst="rect">
            <a:avLst/>
          </a:prstGeom>
          <a:solidFill>
            <a:srgbClr val="DAEFEF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60CE69-EDD8-E433-4682-95A2D19D263A}"/>
              </a:ext>
            </a:extLst>
          </p:cNvPr>
          <p:cNvSpPr txBox="1"/>
          <p:nvPr/>
        </p:nvSpPr>
        <p:spPr>
          <a:xfrm>
            <a:off x="475488" y="2094400"/>
            <a:ext cx="2400000" cy="35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06B73"/>
                </a:solidFill>
                <a:latin typeface="Aptos Display"/>
              </a:defRPr>
            </a:pPr>
            <a:r>
              <a:t>57.24%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4BD241-B0B3-1C81-CA8E-B99F488FFF30}"/>
              </a:ext>
            </a:extLst>
          </p:cNvPr>
          <p:cNvSpPr txBox="1"/>
          <p:nvPr/>
        </p:nvSpPr>
        <p:spPr>
          <a:xfrm>
            <a:off x="475488" y="2407200"/>
            <a:ext cx="2400000" cy="2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6B73"/>
                </a:solidFill>
                <a:latin typeface="Aptos Display"/>
              </a:defRPr>
            </a:pPr>
            <a:r>
              <a:t>BRANCH COVERAGE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A77164-251F-9775-3093-634FA90FBD25}"/>
              </a:ext>
            </a:extLst>
          </p:cNvPr>
          <p:cNvSpPr/>
          <p:nvPr/>
        </p:nvSpPr>
        <p:spPr>
          <a:xfrm>
            <a:off x="3075488" y="2040000"/>
            <a:ext cx="2400000" cy="680000"/>
          </a:xfrm>
          <a:prstGeom prst="rect">
            <a:avLst/>
          </a:prstGeom>
          <a:solidFill>
            <a:srgbClr val="DAEFEF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22938A-072D-0149-B0B4-D99B9556BB33}"/>
              </a:ext>
            </a:extLst>
          </p:cNvPr>
          <p:cNvSpPr txBox="1"/>
          <p:nvPr/>
        </p:nvSpPr>
        <p:spPr>
          <a:xfrm>
            <a:off x="3075488" y="2094400"/>
            <a:ext cx="2400000" cy="353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006B73"/>
                </a:solidFill>
                <a:latin typeface="Aptos Display"/>
              </a:defRPr>
            </a:pPr>
            <a:r>
              <a:t>58.74%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7AB35F-B7D8-6664-739B-40F39BA77CFD}"/>
              </a:ext>
            </a:extLst>
          </p:cNvPr>
          <p:cNvSpPr txBox="1"/>
          <p:nvPr/>
        </p:nvSpPr>
        <p:spPr>
          <a:xfrm>
            <a:off x="3075488" y="2407200"/>
            <a:ext cx="2400000" cy="25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006B73"/>
                </a:solidFill>
                <a:latin typeface="Aptos Display"/>
              </a:defRPr>
            </a:pPr>
            <a:r>
              <a:t>CONDITION COVERAGE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E112D39-BDE2-8797-000F-8E85A875FBF7}"/>
              </a:ext>
            </a:extLst>
          </p:cNvPr>
          <p:cNvGraphicFramePr>
            <a:graphicFrameLocks noGrp="1"/>
          </p:cNvGraphicFramePr>
          <p:nvPr/>
        </p:nvGraphicFramePr>
        <p:xfrm>
          <a:off x="475488" y="2820000"/>
          <a:ext cx="5000000" cy="175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0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MODULE NAME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STMT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BRANCH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COND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time_multiplex_scheduler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70.43%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70.27%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67.57%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programmer_control_regs_axi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88.64%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83.33%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80.00%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dma_controller (fixed)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92.11%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75.00%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72.22%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TOTAL DESIGN (19 files)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80.51%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57.24%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58.74%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" name="Rectangle 40">
            <a:extLst>
              <a:ext uri="{FF2B5EF4-FFF2-40B4-BE49-F238E27FC236}">
                <a16:creationId xmlns:a16="http://schemas.microsoft.com/office/drawing/2014/main" id="{E8EB6E6E-D5A7-61EC-DCC2-E4188B8AAA62}"/>
              </a:ext>
            </a:extLst>
          </p:cNvPr>
          <p:cNvSpPr/>
          <p:nvPr/>
        </p:nvSpPr>
        <p:spPr>
          <a:xfrm>
            <a:off x="475488" y="4680000"/>
            <a:ext cx="5000000" cy="1620000"/>
          </a:xfrm>
          <a:prstGeom prst="rect">
            <a:avLst/>
          </a:prstGeom>
          <a:solidFill>
            <a:srgbClr val="DAEFEF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ACDD70-963C-35FC-4B81-D2288D32B076}"/>
              </a:ext>
            </a:extLst>
          </p:cNvPr>
          <p:cNvSpPr txBox="1"/>
          <p:nvPr/>
        </p:nvSpPr>
        <p:spPr>
          <a:xfrm>
            <a:off x="495488" y="4720000"/>
            <a:ext cx="4950000" cy="1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06B73"/>
                </a:solidFill>
                <a:latin typeface="Aptos Display"/>
              </a:defRPr>
            </a:pPr>
            <a:r>
              <a:t>OFFICIAL AMD VIVADO HTML COVERAGE REPORTS</a:t>
            </a:r>
          </a:p>
          <a:p>
            <a:pPr>
              <a:defRPr sz="800">
                <a:solidFill>
                  <a:srgbClr val="252A2E"/>
                </a:solidFill>
                <a:latin typeface="Aptos"/>
              </a:defRPr>
            </a:pPr>
            <a:r>
              <a:t>• Functional Report: coverage_report/functionalCoverageReport/dashboard.html</a:t>
            </a:r>
            <a:br/>
            <a:r>
              <a:t>• Code Coverage Report: coverage_report/codeCoverageReport/dashboard.html</a:t>
            </a:r>
            <a:br/>
            <a:r>
              <a:t>• Unified across 9 regression runs with zero exclusions and zero waivers.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E45697B-1DE6-AB02-97BA-BC565AB573CD}"/>
              </a:ext>
            </a:extLst>
          </p:cNvPr>
          <p:cNvSpPr txBox="1"/>
          <p:nvPr/>
        </p:nvSpPr>
        <p:spPr>
          <a:xfrm>
            <a:off x="5900000" y="1050000"/>
            <a:ext cx="575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B73"/>
                </a:solidFill>
                <a:latin typeface="Aptos Display"/>
              </a:defRPr>
            </a:pPr>
            <a:r>
              <a:t>2 · AUTOMATED REGRESSION SUITE SIGN-OFF (scripts/run_regression.sh)</a:t>
            </a:r>
          </a:p>
        </p:txBody>
      </p:sp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F9BC5573-FA42-C903-F99B-C2A14506D650}"/>
              </a:ext>
            </a:extLst>
          </p:cNvPr>
          <p:cNvGraphicFramePr>
            <a:graphicFrameLocks noGrp="1"/>
          </p:cNvGraphicFramePr>
          <p:nvPr/>
        </p:nvGraphicFramePr>
        <p:xfrm>
          <a:off x="5900000" y="1280000"/>
          <a:ext cx="5749999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24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TESTCASE NAME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PRIORITY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TARGET VERIFIED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Aptos Display"/>
                        </a:defRPr>
                      </a:pPr>
                      <a:r>
                        <a:t>RESULT</a:t>
                      </a:r>
                    </a:p>
                  </a:txBody>
                  <a:tcPr marL="54864" marR="54864" marT="36576" marB="36576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base_test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Nominal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End-to-end 3-image flow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test_idcode_mismatch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High Priority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Silicon ID protection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test_config_failure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High Priority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Target CRC rejection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test_task_error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High Priority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Task crash error IRQ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test_metadata_zero_len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Medium Priority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Zero length rejection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test_metadata_unaligned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Medium Priority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73-bit unaligned reject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test_watchdog_timeout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Low Priority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Task runtime watchdog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test_config_timeout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Low Priority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Status disconnect timeout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>
                        <a:defRPr sz="750" b="1">
                          <a:solidFill>
                            <a:srgbClr val="252A2E"/>
                          </a:solidFill>
                          <a:latin typeface="Consolas"/>
                        </a:defRPr>
                      </a:pPr>
                      <a:r>
                        <a:t>test_mid_op_reset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Low Priority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50" b="0">
                          <a:solidFill>
                            <a:srgbClr val="252A2E"/>
                          </a:solidFill>
                          <a:latin typeface="Aptos"/>
                        </a:defRPr>
                      </a:pPr>
                      <a:r>
                        <a:t>Mid-transfer reset recovery</a:t>
                      </a:r>
                    </a:p>
                  </a:txBody>
                  <a:tcPr marL="54864" marR="54864" marT="36576" marB="36576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147814"/>
                          </a:solidFill>
                          <a:latin typeface="Aptos Display"/>
                        </a:defRPr>
                      </a:pPr>
                      <a:r>
                        <a:t>PASSED</a:t>
                      </a:r>
                    </a:p>
                  </a:txBody>
                  <a:tcPr marL="54864" marR="54864" marT="36576" marB="36576">
                    <a:solidFill>
                      <a:srgbClr val="E6F5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7C56482D-D3BB-C247-BC92-D610C2D7AF32}"/>
              </a:ext>
            </a:extLst>
          </p:cNvPr>
          <p:cNvSpPr/>
          <p:nvPr/>
        </p:nvSpPr>
        <p:spPr>
          <a:xfrm>
            <a:off x="5900000" y="5000000"/>
            <a:ext cx="5750000" cy="1300000"/>
          </a:xfrm>
          <a:prstGeom prst="rect">
            <a:avLst/>
          </a:prstGeom>
          <a:solidFill>
            <a:srgbClr val="006B73"/>
          </a:solidFill>
          <a:ln>
            <a:solidFill>
              <a:srgbClr val="006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FD64161-B50C-B967-AB6D-2261E15353F2}"/>
              </a:ext>
            </a:extLst>
          </p:cNvPr>
          <p:cNvSpPr txBox="1"/>
          <p:nvPr/>
        </p:nvSpPr>
        <p:spPr>
          <a:xfrm>
            <a:off x="5950000" y="5050000"/>
            <a:ext cx="565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Aptos Display"/>
              </a:defRPr>
            </a:pPr>
            <a:r>
              <a:t>REGRESSION SIGN-OFF: 9 PASSED · 0 FAILED (100% PASS RATE)</a:t>
            </a:r>
          </a:p>
          <a:p>
            <a:pPr algn="ctr">
              <a:defRPr sz="850">
                <a:solidFill>
                  <a:srgbClr val="DAEFEF"/>
                </a:solidFill>
                <a:latin typeface="Aptos"/>
              </a:defRPr>
            </a:pPr>
            <a:r>
              <a:t>Zero UVM Errors · Zero UVM Fatals · Zero Assertion Violations</a:t>
            </a:r>
            <a:br/>
            <a:r>
              <a:t>Automated execution via ./scripts/run_regression.sh (compile + elaborate + 9 tests + xcrg)</a:t>
            </a:r>
          </a:p>
        </p:txBody>
      </p:sp>
    </p:spTree>
    <p:extLst>
      <p:ext uri="{BB962C8B-B14F-4D97-AF65-F5344CB8AC3E}">
        <p14:creationId xmlns:p14="http://schemas.microsoft.com/office/powerpoint/2010/main" val="281791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"/>
            <a:ext cx="3108960" cy="20116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6B73"/>
                </a:solidFill>
                <a:latin typeface="Aptos"/>
              </a:rPr>
              <a:t>BENCHMARKING / SCALE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01400" cy="438912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02A2F"/>
                </a:solidFill>
                <a:latin typeface="Aptos Display"/>
              </a:rPr>
              <a:t>Testing the system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60704"/>
            <a:ext cx="11201400" cy="10972"/>
          </a:xfrm>
          <a:prstGeom prst="rect">
            <a:avLst/>
          </a:prstGeom>
          <a:solidFill>
            <a:srgbClr val="C7C4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1216152"/>
            <a:ext cx="768096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6B73"/>
                </a:solidFill>
                <a:latin typeface="Aptos"/>
              </a:rPr>
              <a:t>HARDWARE COARSE-GRAINED RECONFIGURATION BENCHMARK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200" y="1216152"/>
            <a:ext cx="3200400" cy="1828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58646A"/>
                </a:solidFill>
                <a:latin typeface="Consolas"/>
              </a:rPr>
              <a:t>QSPI → AXI4-STREAM → JTAG · 1 MHz TCK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600917"/>
              </p:ext>
            </p:extLst>
          </p:nvPr>
        </p:nvGraphicFramePr>
        <p:xfrm>
          <a:off x="475488" y="1490472"/>
          <a:ext cx="11192255" cy="4837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5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54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 dirty="0">
                          <a:solidFill>
                            <a:srgbClr val="FFFFFF"/>
                          </a:solidFill>
                          <a:latin typeface="Aptos"/>
                        </a:rPr>
                        <a:t>PARAMETER</a:t>
                      </a:r>
                    </a:p>
                  </a:txBody>
                  <a:tcPr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PHASE 0 · PRE-FILTER</a:t>
                      </a:r>
                    </a:p>
                  </a:txBody>
                  <a:tcPr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PHASE 1 · 2D-FFT</a:t>
                      </a:r>
                    </a:p>
                  </a:txBody>
                  <a:tcPr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10" b="1">
                          <a:solidFill>
                            <a:srgbClr val="FFFFFF"/>
                          </a:solidFill>
                          <a:latin typeface="Aptos"/>
                        </a:rPr>
                        <a:t>PHASE 2 · CLASSIFIER</a:t>
                      </a:r>
                    </a:p>
                  </a:txBody>
                  <a:tcPr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gridSpan="4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1" dirty="0">
                          <a:solidFill>
                            <a:srgbClr val="FFFFFF"/>
                          </a:solidFill>
                          <a:latin typeface="Aptos"/>
                        </a:rPr>
                        <a:t>CONFIGURATION PAYLOAD</a:t>
                      </a:r>
                    </a:p>
                  </a:txBody>
                  <a:tcPr>
                    <a:solidFill>
                      <a:srgbClr val="006B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 dirty="0">
                          <a:solidFill>
                            <a:srgbClr val="202A2F"/>
                          </a:solidFill>
                          <a:latin typeface="Aptos"/>
                        </a:rPr>
                        <a:t>Input Bitstream Payload Size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1,024 Bytes (8,192 b)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2,048 B (16,384 b)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512 Bytes (4,096 b)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 dirty="0">
                          <a:solidFill>
                            <a:srgbClr val="202A2F"/>
                          </a:solidFill>
                          <a:latin typeface="Aptos"/>
                        </a:rPr>
                        <a:t>Flash Image Offset (QSPI)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Consolas"/>
                        </a:rPr>
                        <a:t>0x001000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Consolas"/>
                        </a:rPr>
                        <a:t>0x003000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Consolas"/>
                        </a:rPr>
                        <a:t>0x006000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 dirty="0">
                          <a:solidFill>
                            <a:srgbClr val="202A2F"/>
                          </a:solidFill>
                          <a:latin typeface="Aptos"/>
                        </a:rPr>
                        <a:t>Target JTAG Instruction Code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Consolas"/>
                        </a:rPr>
                        <a:t>0x1 (CFG_IN)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Consolas"/>
                        </a:rPr>
                        <a:t>0x1 (CFG_IN)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Consolas"/>
                        </a:rPr>
                        <a:t>0x1 (CFG_IN)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 dirty="0">
                          <a:solidFill>
                            <a:srgbClr val="202A2F"/>
                          </a:solidFill>
                          <a:latin typeface="Aptos"/>
                        </a:rPr>
                        <a:t>AXI4-Stream Beats Transferred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Aptos"/>
                        </a:rPr>
                        <a:t>256 Words (32-bit)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512 Words (32-bit)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128 Words (32-bit)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 gridSpan="4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1" dirty="0">
                          <a:solidFill>
                            <a:srgbClr val="FFFFFF"/>
                          </a:solidFill>
                          <a:latin typeface="Aptos"/>
                        </a:rPr>
                        <a:t>MEASURED PERFORMANCE</a:t>
                      </a:r>
                    </a:p>
                  </a:txBody>
                  <a:tcPr>
                    <a:solidFill>
                      <a:srgbClr val="006B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202A2F"/>
                          </a:solidFill>
                          <a:latin typeface="Aptos"/>
                        </a:rPr>
                        <a:t>Measured Reconfiguration Overhead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Aptos"/>
                        </a:rPr>
                        <a:t>8.27 </a:t>
                      </a:r>
                      <a:r>
                        <a:rPr sz="770" b="0" dirty="0" err="1">
                          <a:solidFill>
                            <a:srgbClr val="202A2F"/>
                          </a:solidFill>
                          <a:latin typeface="Aptos"/>
                        </a:rPr>
                        <a:t>ms</a:t>
                      </a:r>
                      <a:endParaRPr sz="770" b="0" dirty="0">
                        <a:solidFill>
                          <a:srgbClr val="202A2F"/>
                        </a:solidFill>
                        <a:latin typeface="Aptos"/>
                      </a:endParaRP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16.47 ms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4.17 ms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202A2F"/>
                          </a:solidFill>
                          <a:latin typeface="Aptos"/>
                        </a:rPr>
                        <a:t>Active Compute Window (Execution)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Aptos"/>
                        </a:rPr>
                        <a:t>43.0 us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Aptos"/>
                        </a:rPr>
                        <a:t>89.0 us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24.0 us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202A2F"/>
                          </a:solidFill>
                          <a:latin typeface="Aptos"/>
                        </a:rPr>
                        <a:t>Target Task Interrupt Latency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Aptos"/>
                        </a:rPr>
                        <a:t>150 ns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Aptos"/>
                        </a:rPr>
                        <a:t>150 ns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150 ns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202A2F"/>
                          </a:solidFill>
                          <a:latin typeface="Aptos"/>
                        </a:rPr>
                        <a:t>Effective JTAG Serialization Rate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Consolas"/>
                        </a:rPr>
                        <a:t>0.990 Mbps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Consolas"/>
                        </a:rPr>
                        <a:t>0.995 Mbps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Consolas"/>
                        </a:rPr>
                        <a:t>0.982 Mbps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202A2F"/>
                          </a:solidFill>
                          <a:latin typeface="Aptos"/>
                        </a:rPr>
                        <a:t>Theoretical JTAG Limit (1 MHz TCK)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Consolas"/>
                        </a:rPr>
                        <a:t>1.000 Mbps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Consolas"/>
                        </a:rPr>
                        <a:t>1.000 Mbps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Consolas"/>
                        </a:rPr>
                        <a:t>1.000 Mbps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202A2F"/>
                          </a:solidFill>
                          <a:latin typeface="Aptos"/>
                        </a:rPr>
                        <a:t>Link Efficiency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99.0%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Aptos"/>
                        </a:rPr>
                        <a:t>99.5%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98.2%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 gridSpan="4"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30" b="1" dirty="0">
                          <a:solidFill>
                            <a:srgbClr val="FFFFFF"/>
                          </a:solidFill>
                          <a:latin typeface="Aptos"/>
                        </a:rPr>
                        <a:t>INTEGRITY &amp; RESOURCE OUTCOME</a:t>
                      </a:r>
                    </a:p>
                  </a:txBody>
                  <a:tcPr>
                    <a:solidFill>
                      <a:srgbClr val="006B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202A2F"/>
                          </a:solidFill>
                          <a:latin typeface="Aptos"/>
                        </a:rPr>
                        <a:t>Bitstream Bit-Slip / Data Error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0 Bits (0.00%)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Aptos"/>
                        </a:rPr>
                        <a:t>0 Bits (0.00%)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Aptos"/>
                        </a:rPr>
                        <a:t>0 Bits (0.00%)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202A2F"/>
                          </a:solidFill>
                          <a:latin typeface="Aptos"/>
                        </a:rPr>
                        <a:t>Functional Code Coverage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>
                          <a:solidFill>
                            <a:srgbClr val="202A2F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0" dirty="0">
                          <a:solidFill>
                            <a:srgbClr val="202A2F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>
                    <a:solidFill>
                      <a:srgbClr val="F7F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770" b="1">
                          <a:solidFill>
                            <a:srgbClr val="202A2F"/>
                          </a:solidFill>
                          <a:latin typeface="Aptos"/>
                        </a:rPr>
                        <a:t>Physical Silicon LUT Savings</a:t>
                      </a:r>
                    </a:p>
                  </a:txBody>
                  <a:tcPr>
                    <a:solidFill>
                      <a:srgbClr val="DAEFE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30" b="1" dirty="0">
                          <a:solidFill>
                            <a:srgbClr val="006B73"/>
                          </a:solidFill>
                          <a:latin typeface="Aptos"/>
                        </a:rPr>
                        <a:t>~60% Area Reduction through Time-Shared Fabric</a:t>
                      </a:r>
                    </a:p>
                  </a:txBody>
                  <a:tcPr>
                    <a:solidFill>
                      <a:srgbClr val="F0EDE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>
                    <a:solidFill>
                      <a:srgbClr val="DAEF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>
                    <a:solidFill>
                      <a:srgbClr val="D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75488" y="6291072"/>
            <a:ext cx="11192256" cy="1554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006B73"/>
                </a:solidFill>
                <a:latin typeface="Aptos"/>
              </a:rPr>
              <a:t>Scale result: zero data errors, ≥98.2% link efficiency and 100% functional code coverage across all three workload phases.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7392" y="6501384"/>
            <a:ext cx="502920" cy="155448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06B73"/>
                </a:solidFill>
                <a:latin typeface="Aptos"/>
              </a:rPr>
              <a:t>B1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0000004-000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112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05</a:t>
            </a:r>
            <a:r>
              <a:rPr sz="1125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 / PUBLICATION STRATEGY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000004-0002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477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140"/>
          </a:bodyPr>
          <a:lstStyle/>
          <a:p>
            <a:pPr algn="l">
              <a:defRPr sz="2850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rPr>
              <a:t>Package the architecture as a reproducible reconfiguration method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000004-0003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66675" cy="3695700"/>
          </a:xfrm>
          <a:prstGeom prst="rect">
            <a:avLst/>
          </a:prstGeom>
          <a:solidFill>
            <a:srgbClr val="18AFC2"/>
          </a:solidFill>
          <a:ln w="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000004-0004-4000-8000-000000000000}"/>
              </a:ext>
            </a:extLst>
          </p:cNvPr>
          <p:cNvSpPr>
            <a:spLocks noGrp="1"/>
          </p:cNvSpPr>
          <p:nvPr/>
        </p:nvSpPr>
        <p:spPr>
          <a:xfrm>
            <a:off x="933450" y="17907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686C70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686C70"/>
                </a:solidFill>
                <a:latin typeface="Aptos Display"/>
                <a:ea typeface="Aptos Display"/>
                <a:cs typeface="Aptos Display"/>
              </a:rPr>
              <a:t>WORKING PAPER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00004-0005-4000-8000-000000000000}"/>
              </a:ext>
            </a:extLst>
          </p:cNvPr>
          <p:cNvSpPr>
            <a:spLocks noGrp="1"/>
          </p:cNvSpPr>
          <p:nvPr/>
        </p:nvSpPr>
        <p:spPr>
          <a:xfrm>
            <a:off x="933450" y="2209800"/>
            <a:ext cx="59436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625" b="1">
                <a:solidFill>
                  <a:srgbClr val="252A2E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dirty="0">
                <a:solidFill>
                  <a:srgbClr val="252A2E"/>
                </a:solidFill>
                <a:latin typeface="Aptos Display"/>
                <a:ea typeface="Aptos Display"/>
                <a:cs typeface="Aptos Display"/>
              </a:rPr>
              <a:t>A Novel External Dynamic FPGA Reconfiguration Strategy for Resource-Constrained Applications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000004-0006-4000-8000-000000000000}"/>
              </a:ext>
            </a:extLst>
          </p:cNvPr>
          <p:cNvSpPr>
            <a:spLocks noGrp="1"/>
          </p:cNvSpPr>
          <p:nvPr/>
        </p:nvSpPr>
        <p:spPr>
          <a:xfrm>
            <a:off x="933450" y="47815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Novelty claim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000004-0007-4000-8000-000000000000}"/>
              </a:ext>
            </a:extLst>
          </p:cNvPr>
          <p:cNvSpPr>
            <a:spLocks noGrp="1"/>
          </p:cNvSpPr>
          <p:nvPr/>
        </p:nvSpPr>
        <p:spPr>
          <a:xfrm>
            <a:off x="933450" y="5048250"/>
            <a:ext cx="5905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>
                <a:solidFill>
                  <a:srgbClr val="686C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6C70"/>
                </a:solidFill>
                <a:latin typeface="Aptos"/>
                <a:ea typeface="Aptos"/>
                <a:cs typeface="Aptos"/>
              </a:rPr>
              <a:t>Externalized, controller-managed programming across resource-limited FPGA targets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000004-0011-4000-8000-000000000000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981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70000" lnSpcReduction="20000"/>
          </a:bodyPr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00004-0012-4000-8000-000000000000}"/>
              </a:ext>
            </a:extLst>
          </p:cNvPr>
          <p:cNvSpPr>
            <a:spLocks noGrp="1"/>
          </p:cNvSpPr>
          <p:nvPr/>
        </p:nvSpPr>
        <p:spPr>
          <a:xfrm>
            <a:off x="11334750" y="6515100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900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IN" sz="900" b="1">
                <a:solidFill>
                  <a:srgbClr val="006B73"/>
                </a:solidFill>
                <a:latin typeface="Aptos Display"/>
                <a:ea typeface="Aptos Display"/>
                <a:cs typeface="Aptos Display"/>
              </a:rPr>
              <a:t>05</a:t>
            </a:r>
            <a:endParaRPr sz="900" b="1">
              <a:solidFill>
                <a:srgbClr val="006B73"/>
              </a:solidFill>
              <a:latin typeface="Aptos Display"/>
              <a:ea typeface="Aptos Display"/>
              <a:cs typeface="Aptos Display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420665"/>
              </p:ext>
            </p:extLst>
          </p:nvPr>
        </p:nvGraphicFramePr>
        <p:xfrm>
          <a:off x="7059168" y="1901952"/>
          <a:ext cx="4187952" cy="2816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900006851"/>
                    </a:ext>
                  </a:extLst>
                </a:gridCol>
              </a:tblGrid>
              <a:tr h="704088"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solidFill>
                            <a:srgbClr val="FFFFFF"/>
                          </a:solidFill>
                          <a:latin typeface="Aptos Display"/>
                        </a:rPr>
                        <a:t>JOURNAL / CONFERENCE</a:t>
                      </a:r>
                    </a:p>
                  </a:txBody>
                  <a:tcPr marL="64008" marR="64008" marT="27432" marB="27432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100" b="1">
                          <a:solidFill>
                            <a:srgbClr val="FFFFFF"/>
                          </a:solidFill>
                          <a:latin typeface="Aptos Display"/>
                        </a:rPr>
                        <a:t>TARGET ISSUE / TRACK</a:t>
                      </a:r>
                    </a:p>
                  </a:txBody>
                  <a:tcPr marL="64008" marR="64008" marT="27432" marB="27432">
                    <a:solidFill>
                      <a:srgbClr val="006B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 Display"/>
                        </a:rPr>
                        <a:t>SUBMISSION WINDOW</a:t>
                      </a:r>
                      <a:endParaRPr lang="en-IN"/>
                    </a:p>
                  </a:txBody>
                  <a:tcPr marL="64008" marR="64008" marT="27432" marB="27432">
                    <a:solidFill>
                      <a:srgbClr val="006B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algn="ctr"/>
                      <a:endParaRPr lang="en-IN" sz="1400" b="1" dirty="0">
                        <a:solidFill>
                          <a:srgbClr val="252A2E"/>
                        </a:solidFill>
                        <a:latin typeface="Aptos Display"/>
                      </a:endParaRPr>
                    </a:p>
                  </a:txBody>
                  <a:tcPr marL="64008" marR="64008" marT="27432" marB="2743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marL="64008" marR="64008" marT="27432" marB="2743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algn="ctr"/>
                      <a:endParaRPr lang="en-IN" sz="1400" b="1">
                        <a:solidFill>
                          <a:srgbClr val="252A2E"/>
                        </a:solidFill>
                        <a:latin typeface="Aptos Display"/>
                      </a:endParaRPr>
                    </a:p>
                  </a:txBody>
                  <a:tcPr marL="64008" marR="64008" marT="27432" marB="2743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/>
                    </a:p>
                  </a:txBody>
                  <a:tcPr marL="64008" marR="64008" marT="27432" marB="27432">
                    <a:solidFill>
                      <a:srgbClr val="D9EF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>
                    <a:solidFill>
                      <a:srgbClr val="D9EF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algn="ctr"/>
                      <a:endParaRPr lang="en-IN" sz="1400" b="1">
                        <a:solidFill>
                          <a:srgbClr val="252A2E"/>
                        </a:solidFill>
                        <a:latin typeface="Aptos Display"/>
                      </a:endParaRPr>
                    </a:p>
                  </a:txBody>
                  <a:tcPr marL="64008" marR="64008" marT="27432" marB="2743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64008" marR="64008" marT="27432" marB="27432"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64008" marR="64008" marT="27432" marB="27432">
                    <a:solidFill>
                      <a:srgbClr val="FFF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4589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1091</TotalTime>
  <Words>4909</Words>
  <Application>Microsoft Office PowerPoint</Application>
  <PresentationFormat>Widescreen</PresentationFormat>
  <Paragraphs>906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Mohit Tasker</dc:creator>
  <cp:lastModifiedBy>Mohit Tasker</cp:lastModifiedBy>
  <cp:revision>6</cp:revision>
  <dcterms:created xsi:type="dcterms:W3CDTF">2026-10-31T13:02:38Z</dcterms:created>
  <dcterms:modified xsi:type="dcterms:W3CDTF">2026-11-01T07:14:10Z</dcterms:modified>
</cp:coreProperties>
</file>